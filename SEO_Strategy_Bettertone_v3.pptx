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9" y="0"/>
            <a:ext cx="4690873" cy="6858000"/>
          </a:xfrm>
          <a:prstGeom prst="rect">
            <a:avLst/>
          </a:prstGeom>
          <a:solidFill>
            <a:srgbClr val="E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nrope"/>
              </a:rPr>
              <a:t>site24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41248"/>
            <a:ext cx="64008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1920240" cy="384048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nrope"/>
              </a:rPr>
              <a:t>червень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64208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anrope"/>
              </a:rPr>
              <a:t>Стратегія SEO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06040"/>
            <a:ext cx="6400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22C55E"/>
                </a:solidFill>
                <a:latin typeface="Manrope"/>
              </a:rPr>
              <a:t>просування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547872"/>
            <a:ext cx="274320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749039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FD9FF"/>
                </a:solidFill>
                <a:latin typeface="Manrope"/>
              </a:rPr>
              <a:t>для компанії Беттертон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822960"/>
            <a:ext cx="411480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0515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  <a:latin typeface="Manrope"/>
              </a:rPr>
              <a:t>Мета проекту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4630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Manrope"/>
              </a:rPr>
              <a:t>Топ Google &amp; 5 000 замовлень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103120"/>
            <a:ext cx="137160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468880"/>
            <a:ext cx="109728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33172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74151"/>
                </a:solidFill>
                <a:latin typeface="Manrope"/>
              </a:rPr>
              <a:t>Лідерство в Google по слухових апаратах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3063240"/>
            <a:ext cx="109728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92608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74151"/>
                </a:solidFill>
                <a:latin typeface="Manrope"/>
              </a:rPr>
              <a:t>Ранжування по ЛОР-послугах та діагностиці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57600"/>
            <a:ext cx="109728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52044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74151"/>
                </a:solidFill>
                <a:latin typeface="Manrope"/>
              </a:rPr>
              <a:t>Видимість у ChatGPT та AI Overview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4251960"/>
            <a:ext cx="109728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11480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74151"/>
                </a:solidFill>
                <a:latin typeface="Manrope"/>
              </a:rPr>
              <a:t>5 000+ замовлень з органіки щомісяця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4846320"/>
            <a:ext cx="109728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47091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74151"/>
                </a:solidFill>
                <a:latin typeface="Manrope"/>
              </a:rPr>
              <a:t>Прозора звітність без прихованих витрат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5852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Manrope"/>
              </a:rPr>
              <a:t>site24.com.ua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"/>
            <a:ext cx="1737360" cy="347472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  <a:latin typeface="Manrope"/>
              </a:rPr>
              <a:t>Стратегія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Manrope"/>
              </a:rPr>
              <a:t>Задачі SEO просування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82880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81328"/>
            <a:ext cx="548640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548640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0F4FF"/>
                </a:solidFill>
                <a:latin typeface="Manrop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3A6B"/>
                </a:solidFill>
                <a:latin typeface="Manrope"/>
              </a:rPr>
              <a:t>Лідерство в Google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9144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374151"/>
                </a:solidFill>
                <a:latin typeface="Manrope"/>
              </a:rPr>
              <a:t>Вивести Беттертон у топ пошукової видачі по трьох ключових напрямках: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4937760" cy="384048"/>
          </a:xfrm>
          <a:prstGeom prst="roundRect">
            <a:avLst>
              <a:gd name="adj" fmla="val 20000"/>
            </a:avLst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7939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563EB"/>
                </a:solidFill>
                <a:latin typeface="Manrope"/>
              </a:rPr>
              <a:t>Слухові апарати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81728"/>
            <a:ext cx="4937760" cy="384048"/>
          </a:xfrm>
          <a:prstGeom prst="roundRect">
            <a:avLst>
              <a:gd name="adj" fmla="val 20000"/>
            </a:avLst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7548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563EB"/>
                </a:solidFill>
                <a:latin typeface="Manrope"/>
              </a:rPr>
              <a:t>Діагностика слуху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57216"/>
            <a:ext cx="4937760" cy="384048"/>
          </a:xfrm>
          <a:prstGeom prst="roundRect">
            <a:avLst>
              <a:gd name="adj" fmla="val 20000"/>
            </a:avLst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23036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563EB"/>
                </a:solidFill>
                <a:latin typeface="Manrope"/>
              </a:rPr>
              <a:t>ЛОР послуги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481328"/>
            <a:ext cx="548640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481328"/>
            <a:ext cx="548640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627632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DCFCE7"/>
                </a:solidFill>
                <a:latin typeface="Manrope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606040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3A6B"/>
                </a:solidFill>
                <a:latin typeface="Manrope"/>
              </a:rPr>
              <a:t>5 000 замовлень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3200400"/>
            <a:ext cx="9144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3832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374151"/>
                </a:solidFill>
                <a:latin typeface="Manrope"/>
              </a:rPr>
              <a:t>Забезпечити стабільний потік замовлень з органічного пошуку Google через комплексне SEO-просування.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"/>
            <a:ext cx="1737360" cy="347472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  <a:latin typeface="Manrope"/>
              </a:rPr>
              <a:t>Аналіз ринку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Manrope"/>
              </a:rPr>
              <a:t>Ситуація в видачі Google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82880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508760"/>
            <a:ext cx="11274552" cy="21762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91440" cy="21762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Manrope"/>
              </a:rPr>
              <a:t>Інтернет-магазини лідирують у комерційних запитах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58568"/>
            <a:ext cx="106344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374151"/>
                </a:solidFill>
                <a:latin typeface="Manrope"/>
              </a:rPr>
              <a:t>Конкуренти sluh.com.ua, vdy.com.ua, evrotonsluh.com.ua обходять усіх завдяки оптимізованій комерційній структурі. Ключова перевага — побудова сторінок під купівельні запити, а не загальний SEO-рейтинг.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86200"/>
            <a:ext cx="11274552" cy="21762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886200"/>
            <a:ext cx="91440" cy="21762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069080"/>
            <a:ext cx="10634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Manrope"/>
              </a:rPr>
              <a:t>ЛОР-ніша — окрема специфіка ранжування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36008"/>
            <a:ext cx="106344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374151"/>
                </a:solidFill>
                <a:latin typeface="Manrope"/>
              </a:rPr>
              <a:t>Мережеві гравці (Oxford Medical) займають позиції через локальне SEO з філіями в різних містах. Необхідна окрема стратегія під кожне місто присутності Беттертон.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"/>
            <a:ext cx="1737360" cy="347472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  <a:latin typeface="Manrope"/>
              </a:rPr>
              <a:t>Знайдені проблеми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Manrope"/>
              </a:rPr>
              <a:t>Технічний SEO аудит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82880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81328"/>
            <a:ext cx="5289804" cy="1463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5289804" cy="82296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682496"/>
            <a:ext cx="48326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3A6B"/>
                </a:solidFill>
                <a:latin typeface="Manrope"/>
              </a:rPr>
              <a:t>Переспам анкорів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67128"/>
            <a:ext cx="483260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Manrope"/>
              </a:rPr>
              <a:t>Переоптимізація точними входженнями ключів — Google знижує довіру до сторінок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11596" y="1481328"/>
            <a:ext cx="5289804" cy="1463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11596" y="1481328"/>
            <a:ext cx="5289804" cy="82296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7628" y="1682496"/>
            <a:ext cx="48326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3A6B"/>
                </a:solidFill>
                <a:latin typeface="Manrope"/>
              </a:rPr>
              <a:t>Пагінація закрита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7628" y="2167128"/>
            <a:ext cx="483260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Manrope"/>
              </a:rPr>
              <a:t>Сторінки пагінації в robots.txt — послуги з пагінацією повністю випадають з індексу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81528"/>
            <a:ext cx="5289804" cy="1463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081528"/>
            <a:ext cx="5289804" cy="82296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282696"/>
            <a:ext cx="48326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3A6B"/>
                </a:solidFill>
                <a:latin typeface="Manrope"/>
              </a:rPr>
              <a:t>Дублі сторінок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767328"/>
            <a:ext cx="483260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Manrope"/>
              </a:rPr>
              <a:t>Смислові дублі ЛОР-сторінок + плутанина у мета-тегах між укр/рос версіями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11596" y="3081528"/>
            <a:ext cx="5289804" cy="1463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11596" y="3081528"/>
            <a:ext cx="5289804" cy="82296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67628" y="3282696"/>
            <a:ext cx="48326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3A6B"/>
                </a:solidFill>
                <a:latin typeface="Manrope"/>
              </a:rPr>
              <a:t>Погана швидкодія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7628" y="3767328"/>
            <a:ext cx="483260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Manrope"/>
              </a:rPr>
              <a:t>PageSpeed незадовільний, старі URL зі статусом 404 — втрата ваги посилань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681728"/>
            <a:ext cx="5289804" cy="1463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681728"/>
            <a:ext cx="5289804" cy="82296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882896"/>
            <a:ext cx="48326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3A6B"/>
                </a:solidFill>
                <a:latin typeface="Manrope"/>
              </a:rPr>
              <a:t>AI-видимість часткова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367528"/>
            <a:ext cx="483260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Manrope"/>
              </a:rPr>
              <a:t>AI Overview лише де вже є топ-10. У ChatGPT — тільки через Google Maps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"/>
            <a:ext cx="1737360" cy="347472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  <a:latin typeface="Manrope"/>
              </a:rPr>
              <a:t>6 напрямків роботи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Manrope"/>
              </a:rPr>
              <a:t>Стратегія по SEO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82880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81328"/>
            <a:ext cx="3502152" cy="2148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350215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627632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EBF3FF"/>
                </a:solidFill>
                <a:latin typeface="Manrop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94560"/>
            <a:ext cx="3136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  <a:latin typeface="Manrope"/>
              </a:rPr>
              <a:t>Комерційна структура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706624"/>
            <a:ext cx="5486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852928"/>
            <a:ext cx="31363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Manrope"/>
              </a:rPr>
              <a:t>Перебудова сторінки «Слухові апарати» як повноцінного комерційного лендінгу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1481328"/>
            <a:ext cx="3502152" cy="2148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69080" y="1481328"/>
            <a:ext cx="3502152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0248" y="1627632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DCFCE7"/>
                </a:solidFill>
                <a:latin typeface="Manrope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2194560"/>
            <a:ext cx="3136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  <a:latin typeface="Manrope"/>
              </a:rPr>
              <a:t>Семантичне ядро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0248" y="2706624"/>
            <a:ext cx="54864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0248" y="2852928"/>
            <a:ext cx="31363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Manrope"/>
              </a:rPr>
              <a:t>Повний збір семантики по кожному напрямку — слухові апарати, ЛОР, діагностика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1481328"/>
            <a:ext cx="3502152" cy="2148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0" y="1481328"/>
            <a:ext cx="3502152" cy="82296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8" y="1627632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E2E8F0"/>
                </a:solidFill>
                <a:latin typeface="Manrope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8" y="2194560"/>
            <a:ext cx="3136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  <a:latin typeface="Manrope"/>
              </a:rPr>
              <a:t>Технічний аудит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82128" y="2706624"/>
            <a:ext cx="548640" cy="45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82128" y="2852928"/>
            <a:ext cx="31363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Manrope"/>
              </a:rPr>
              <a:t>Усунення дублів, 404, помилок robots.txt, покращення швидкодії сайту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813048"/>
            <a:ext cx="3502152" cy="2148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813048"/>
            <a:ext cx="350215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959352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EBF3FF"/>
                </a:solidFill>
                <a:latin typeface="Manrope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526280"/>
            <a:ext cx="3136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  <a:latin typeface="Manrope"/>
              </a:rPr>
              <a:t>AI-оптимізація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038344"/>
            <a:ext cx="54864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184648"/>
            <a:ext cx="31363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Manrope"/>
              </a:rPr>
              <a:t>Оптимізація під ChatGPT та AI Overview — нова точка видимості в пошуку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69080" y="3813048"/>
            <a:ext cx="3502152" cy="2148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69080" y="3813048"/>
            <a:ext cx="3502152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70248" y="3959352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DCFCE7"/>
                </a:solidFill>
                <a:latin typeface="Manrope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70248" y="4526280"/>
            <a:ext cx="3136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  <a:latin typeface="Manrope"/>
              </a:rPr>
              <a:t>Лінкбілдинг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70248" y="5038344"/>
            <a:ext cx="54864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70248" y="5184648"/>
            <a:ext cx="31363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Manrope"/>
              </a:rPr>
              <a:t>Аналіз конкурентів, добір якісних донорів, закупівля тематичних посилань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0960" y="3813048"/>
            <a:ext cx="3502152" cy="2148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80960" y="3813048"/>
            <a:ext cx="3502152" cy="82296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82128" y="3959352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E2E8F0"/>
                </a:solidFill>
                <a:latin typeface="Manrope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82128" y="4526280"/>
            <a:ext cx="3136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  <a:latin typeface="Manrope"/>
              </a:rPr>
              <a:t>EEAT-фактори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82128" y="5038344"/>
            <a:ext cx="548640" cy="457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82128" y="5184648"/>
            <a:ext cx="31363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Manrope"/>
              </a:rPr>
              <a:t>Посилення довіри: автори, відгуки, сертифікати, медична експертиза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"/>
            <a:ext cx="1737360" cy="347472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  <a:latin typeface="Manrope"/>
              </a:rPr>
              <a:t>Дорожня карта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Manrope"/>
              </a:rPr>
              <a:t>План робіт — 1-ий місяць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82880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81328"/>
            <a:ext cx="11274552" cy="621792"/>
          </a:xfrm>
          <a:prstGeom prst="roundRect">
            <a:avLst>
              <a:gd name="adj" fmla="val 20000"/>
            </a:avLst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1609344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59105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nrope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572768"/>
            <a:ext cx="10497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3A6B"/>
                </a:solidFill>
                <a:latin typeface="Manrope"/>
              </a:rPr>
              <a:t>Збір семантичного ядра — слухові апарати та пріоритетні послуги (до 40 груп)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67128"/>
            <a:ext cx="11274552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" y="2295144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27685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nrope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258568"/>
            <a:ext cx="10497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3A6B"/>
                </a:solidFill>
                <a:latin typeface="Manrope"/>
              </a:rPr>
              <a:t>ТЗ на допрацювання структури сайту та навігаційного меню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852928"/>
            <a:ext cx="11274552" cy="621792"/>
          </a:xfrm>
          <a:prstGeom prst="roundRect">
            <a:avLst>
              <a:gd name="adj" fmla="val 20000"/>
            </a:avLst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" y="2980944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96265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nrop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944368"/>
            <a:ext cx="10497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3A6B"/>
                </a:solidFill>
                <a:latin typeface="Manrope"/>
              </a:rPr>
              <a:t>Написання та оптимізація мета-тегів по зібраній семантиці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538728"/>
            <a:ext cx="11274552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" y="3666744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64845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nrope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630168"/>
            <a:ext cx="10497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3A6B"/>
                </a:solidFill>
                <a:latin typeface="Manrope"/>
              </a:rPr>
              <a:t>ТЗ на оптимізацію текстів для 15 сторінок (семантика + AI-аналіз конкурентів)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224528"/>
            <a:ext cx="11274552" cy="621792"/>
          </a:xfrm>
          <a:prstGeom prst="roundRect">
            <a:avLst>
              <a:gd name="adj" fmla="val 20000"/>
            </a:avLst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" y="4352544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33425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nrope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4315968"/>
            <a:ext cx="10497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3A6B"/>
                </a:solidFill>
                <a:latin typeface="Manrope"/>
              </a:rPr>
              <a:t>ТЗ на допрацювання комерційної структури сторінки «Слухові апарати»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910328"/>
            <a:ext cx="11274552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" y="5038344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02005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nrope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5001768"/>
            <a:ext cx="10497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3A6B"/>
                </a:solidFill>
                <a:latin typeface="Manrope"/>
              </a:rPr>
              <a:t>Технічний SEO аудит — ТЗ програмісту на впровадження всіх правок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596128"/>
            <a:ext cx="11274552" cy="621792"/>
          </a:xfrm>
          <a:prstGeom prst="roundRect">
            <a:avLst>
              <a:gd name="adj" fmla="val 20000"/>
            </a:avLst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1792" y="5724144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570585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nrope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" y="5687568"/>
            <a:ext cx="10497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3A6B"/>
                </a:solidFill>
                <a:latin typeface="Manrope"/>
              </a:rPr>
              <a:t>Аналіз EEAT-факторів конкурентів — ТЗ на допрацювання довіри сайту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"/>
            <a:ext cx="1737360" cy="347472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  <a:latin typeface="Manrope"/>
              </a:rPr>
              <a:t>Дорожня карта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Manrope"/>
              </a:rPr>
              <a:t>План робіт — 2-ий місяць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82880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81328"/>
            <a:ext cx="11274552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1609344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59105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nrope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572768"/>
            <a:ext cx="10497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3A6B"/>
                </a:solidFill>
                <a:latin typeface="Manrope"/>
              </a:rPr>
              <a:t>Перевірка та прийом впроваджених правок на сайті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67128"/>
            <a:ext cx="11274552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" y="2295144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27685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nrope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258568"/>
            <a:ext cx="10497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3A6B"/>
                </a:solidFill>
                <a:latin typeface="Manrope"/>
              </a:rPr>
              <a:t>Контроль якості та прийом написаних SEO-текстів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852928"/>
            <a:ext cx="11274552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" y="2980944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96265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nrop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944368"/>
            <a:ext cx="10497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3A6B"/>
                </a:solidFill>
                <a:latin typeface="Manrope"/>
              </a:rPr>
              <a:t>Збір семантики по послугах ЛОРа / отоларінголога / сурдолога (до 40 груп)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538728"/>
            <a:ext cx="11274552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" y="3666744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64845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nrope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630168"/>
            <a:ext cx="10497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3A6B"/>
                </a:solidFill>
                <a:latin typeface="Manrope"/>
              </a:rPr>
              <a:t>ТЗ на зміну, створення та склеювання сторінок сайту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224528"/>
            <a:ext cx="11274552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" y="4352544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33425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nrope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4315968"/>
            <a:ext cx="10497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3A6B"/>
                </a:solidFill>
                <a:latin typeface="Manrope"/>
              </a:rPr>
              <a:t>Написання та оптимізація мета-тегів по новій семантиці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910328"/>
            <a:ext cx="11274552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" y="5038344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02005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nrope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5001768"/>
            <a:ext cx="10497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3A6B"/>
                </a:solidFill>
                <a:latin typeface="Manrope"/>
              </a:rPr>
              <a:t>ТЗ на написання та оптимізацію текстів для 15 нових сторінок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596128"/>
            <a:ext cx="11274552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1792" y="5724144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570585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nrope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" y="5687568"/>
            <a:ext cx="10497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3A6B"/>
                </a:solidFill>
                <a:latin typeface="Manrope"/>
              </a:rPr>
              <a:t>Аналіз посилань конкурентів — формування стратегії лінкбілдингу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6281928"/>
            <a:ext cx="11274552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1792" y="6409944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639165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nrope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" y="6373368"/>
            <a:ext cx="10497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3A6B"/>
                </a:solidFill>
                <a:latin typeface="Manrope"/>
              </a:rPr>
              <a:t>Перші якісні посилання на сайт (статейні + підбір сайтів-донорів)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"/>
            <a:ext cx="1737360" cy="347472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  <a:latin typeface="Manrope"/>
              </a:rPr>
              <a:t>Дорожня карта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Manrope"/>
              </a:rPr>
              <a:t>План робіт — 3-ій місяць і далі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82880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81328"/>
            <a:ext cx="11274552" cy="621792"/>
          </a:xfrm>
          <a:prstGeom prst="roundRect">
            <a:avLst>
              <a:gd name="adj" fmla="val 20000"/>
            </a:avLst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1609344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59105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nrope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572768"/>
            <a:ext cx="10497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3A6B"/>
                </a:solidFill>
                <a:latin typeface="Manrope"/>
              </a:rPr>
              <a:t>Збір семантичного ядра — комерційні сторінки або блог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67128"/>
            <a:ext cx="11274552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" y="2295144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27685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nrope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258568"/>
            <a:ext cx="10497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3A6B"/>
                </a:solidFill>
                <a:latin typeface="Manrope"/>
              </a:rPr>
              <a:t>Формування мета-тегів та ТЗ на тексти щомісяця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852928"/>
            <a:ext cx="11274552" cy="621792"/>
          </a:xfrm>
          <a:prstGeom prst="roundRect">
            <a:avLst>
              <a:gd name="adj" fmla="val 20000"/>
            </a:avLst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" y="2980944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96265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nrop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944368"/>
            <a:ext cx="10497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3A6B"/>
                </a:solidFill>
                <a:latin typeface="Manrope"/>
              </a:rPr>
              <a:t>Контроль технічного стану сайту, нові правки за необхідності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538728"/>
            <a:ext cx="11274552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" y="3666744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64845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nrope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630168"/>
            <a:ext cx="10497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3A6B"/>
                </a:solidFill>
                <a:latin typeface="Manrope"/>
              </a:rPr>
              <a:t>Нарощування якісної маси посилань (статейні + крауд посилання)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224528"/>
            <a:ext cx="11274552" cy="621792"/>
          </a:xfrm>
          <a:prstGeom prst="roundRect">
            <a:avLst>
              <a:gd name="adj" fmla="val 20000"/>
            </a:avLst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" y="4352544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33425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nrope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4315968"/>
            <a:ext cx="10497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3A6B"/>
                </a:solidFill>
                <a:latin typeface="Manrope"/>
              </a:rPr>
              <a:t>Оптимізація під AI-системи: ChatGPT, AI Overview, Gemini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910328"/>
            <a:ext cx="11274552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" y="5038344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02005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nrope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5001768"/>
            <a:ext cx="10497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3A6B"/>
                </a:solidFill>
                <a:latin typeface="Manrope"/>
              </a:rPr>
              <a:t>Індивідуальні задачі за динамікою проекту в поточному місяці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"/>
            <a:ext cx="1737360" cy="347472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  <a:latin typeface="Manrope"/>
              </a:rPr>
              <a:t>Інвестиції у просування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Manrope"/>
              </a:rPr>
              <a:t>Вартість послуг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82880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81328"/>
            <a:ext cx="5029200" cy="5029200"/>
          </a:xfrm>
          <a:prstGeom prst="roundRect">
            <a:avLst>
              <a:gd name="adj" fmla="val 3000"/>
            </a:avLst>
          </a:prstGeom>
          <a:solidFill>
            <a:srgbClr val="0F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783080"/>
            <a:ext cx="1645920" cy="347472"/>
          </a:xfrm>
          <a:prstGeom prst="roundRect">
            <a:avLst>
              <a:gd name="adj" fmla="val 4000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830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nrope"/>
              </a:rPr>
              <a:t>1-й місяць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317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Manrope"/>
              </a:rPr>
              <a:t>650$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3474720"/>
            <a:ext cx="201168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703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FD9FF"/>
                </a:solidFill>
                <a:latin typeface="Manrope"/>
              </a:rPr>
              <a:t>Стартовий місяць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224528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AED8"/>
                </a:solidFill>
                <a:latin typeface="Manrope"/>
              </a:rPr>
              <a:t>Включає повний аудит, стратегію,
технічні завдання та початок
впровадження.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481328"/>
            <a:ext cx="58064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6208" y="1783080"/>
            <a:ext cx="2011680" cy="347472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17830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  <a:latin typeface="Manrope"/>
              </a:rPr>
              <a:t>2-й місяць та далі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2423160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Manrope"/>
              </a:rPr>
              <a:t>Роботи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423160"/>
            <a:ext cx="2331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1B3A6B"/>
                </a:solidFill>
                <a:latin typeface="Manrope"/>
              </a:rPr>
              <a:t>580$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3063240"/>
            <a:ext cx="5577840" cy="822960"/>
          </a:xfrm>
          <a:prstGeom prst="rect">
            <a:avLst/>
          </a:prstGeom>
          <a:solidFill>
            <a:srgbClr val="E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3246120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Manrope"/>
              </a:rPr>
              <a:t>Посилання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246120"/>
            <a:ext cx="2331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1B3A6B"/>
                </a:solidFill>
                <a:latin typeface="Manrope"/>
              </a:rPr>
              <a:t>550$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4069080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Manrope"/>
              </a:rPr>
              <a:t>Копірайтинг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4069080"/>
            <a:ext cx="2331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374151"/>
                </a:solidFill>
                <a:latin typeface="Manrope"/>
              </a:rPr>
              <a:t>280 грн / 1000 зн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4709160"/>
            <a:ext cx="5577840" cy="822960"/>
          </a:xfrm>
          <a:prstGeom prst="rect">
            <a:avLst/>
          </a:prstGeom>
          <a:solidFill>
            <a:srgbClr val="E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4892040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Manrope"/>
              </a:rPr>
              <a:t>Впровадження правок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4892040"/>
            <a:ext cx="2331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6B7280"/>
                </a:solidFill>
                <a:latin typeface="Manrope"/>
              </a:rPr>
              <a:t>на боці клієнта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60533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Manrope"/>
              </a:rPr>
              <a:t>** Оплата — передоплата за 1 місяць роботи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"/>
            <a:ext cx="1737360" cy="347472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  <a:latin typeface="Manrope"/>
              </a:rPr>
              <a:t>Команда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Manrope"/>
              </a:rPr>
              <a:t>Хто працює над проєктом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82880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81328"/>
            <a:ext cx="2590038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2590038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BF3FF"/>
                </a:solidFill>
                <a:latin typeface="Manrop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59152"/>
            <a:ext cx="22699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A6B"/>
                </a:solidFill>
                <a:latin typeface="Manrope"/>
              </a:rPr>
              <a:t>Проджект-
менеджер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27248"/>
            <a:ext cx="5943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10128"/>
            <a:ext cx="226999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Manrope"/>
              </a:rPr>
              <a:t>Підтримує всі комунікації та контролює виконання задач у строк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75254" y="1481328"/>
            <a:ext cx="2590038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75254" y="1481328"/>
            <a:ext cx="2590038" cy="91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8134" y="16002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2E8F0"/>
                </a:solidFill>
                <a:latin typeface="Manrope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8134" y="2359152"/>
            <a:ext cx="22699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A6B"/>
                </a:solidFill>
                <a:latin typeface="Manrope"/>
              </a:rPr>
              <a:t>SEO
фахівець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58134" y="3127248"/>
            <a:ext cx="594360" cy="54864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58134" y="3310128"/>
            <a:ext cx="226999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Manrope"/>
              </a:rPr>
              <a:t>Аналіз сайту та конкурентів, технічний аудит, стратегія просування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3308" y="1481328"/>
            <a:ext cx="2590038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93308" y="1481328"/>
            <a:ext cx="2590038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76188" y="16002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DCFCE7"/>
                </a:solidFill>
                <a:latin typeface="Manrope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76188" y="2359152"/>
            <a:ext cx="22699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A6B"/>
                </a:solidFill>
                <a:latin typeface="Manrope"/>
              </a:rPr>
              <a:t>Семантик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76188" y="3127248"/>
            <a:ext cx="59436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76188" y="3310128"/>
            <a:ext cx="226999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Manrope"/>
              </a:rPr>
              <a:t>Розширення семантики та збір ключів для нових категорій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11362" y="1481328"/>
            <a:ext cx="2590038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11362" y="1481328"/>
            <a:ext cx="2590038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94242" y="160020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2E8F0"/>
                </a:solidFill>
                <a:latin typeface="Manrope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94242" y="2359152"/>
            <a:ext cx="22699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A6B"/>
                </a:solidFill>
                <a:latin typeface="Manrope"/>
              </a:rPr>
              <a:t>Лінкбілдер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94242" y="3127248"/>
            <a:ext cx="5943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94242" y="3310128"/>
            <a:ext cx="226999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Manrope"/>
              </a:rPr>
              <a:t>Закупівля та контроль якості посилань на сайт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"/>
            <a:ext cx="1737360" cy="347472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  <a:latin typeface="Manrope"/>
              </a:rPr>
              <a:t>Як ми звітуємо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Manrope"/>
              </a:rPr>
              <a:t>Звітність в роботі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82880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81328"/>
            <a:ext cx="5289804" cy="1920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5289804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682496"/>
            <a:ext cx="48326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Manrope"/>
              </a:rPr>
              <a:t>Звіт по роботах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231136"/>
            <a:ext cx="483260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74151"/>
                </a:solidFill>
                <a:latin typeface="Manrope"/>
              </a:rPr>
              <a:t>Щомісячний звіт по проведених та запланованих роботах — що зроблено, що далі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11596" y="1481328"/>
            <a:ext cx="5289804" cy="1920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11596" y="1481328"/>
            <a:ext cx="5289804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7628" y="1682496"/>
            <a:ext cx="48326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Manrope"/>
              </a:rPr>
              <a:t>Трафік і конверсії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7628" y="2231136"/>
            <a:ext cx="483260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74151"/>
                </a:solidFill>
                <a:latin typeface="Manrope"/>
              </a:rPr>
              <a:t>Звіт по трафіку та конверсіях — динаміка зростання, джерела, поведінка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84448"/>
            <a:ext cx="5289804" cy="1920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584448"/>
            <a:ext cx="5289804" cy="82296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785616"/>
            <a:ext cx="48326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Manrope"/>
              </a:rPr>
              <a:t>Посилання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334256"/>
            <a:ext cx="483260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74151"/>
                </a:solidFill>
                <a:latin typeface="Manrope"/>
              </a:rPr>
              <a:t>Звіт по закуплених посиланнях — донори, анкори, показники якості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11596" y="3584448"/>
            <a:ext cx="5289804" cy="1920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11596" y="3584448"/>
            <a:ext cx="5289804" cy="822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67628" y="3785616"/>
            <a:ext cx="48326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Manrope"/>
              </a:rPr>
              <a:t>Позиції в Google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7628" y="4334256"/>
            <a:ext cx="483260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74151"/>
                </a:solidFill>
                <a:latin typeface="Manrope"/>
              </a:rPr>
              <a:t>Звіт по позиціях — ключові запити, динаміка, топ-3/10/20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760720"/>
            <a:ext cx="11274552" cy="777240"/>
          </a:xfrm>
          <a:prstGeom prst="roundRect">
            <a:avLst>
              <a:gd name="adj" fmla="val 3000"/>
            </a:avLst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888736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anrope"/>
              </a:rPr>
              <a:t>Наш принцип — повна прозорість бюджетів, відповідей та звітів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D9FF"/>
                </a:solidFill>
                <a:latin typeface="Manrope"/>
              </a:rPr>
              <a:t>Кейс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anrope"/>
              </a:rPr>
              <a:t>Медичне обладнання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3716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4114800" cy="5029200"/>
          </a:xfrm>
          <a:prstGeom prst="roundRect">
            <a:avLst>
              <a:gd name="adj" fmla="val 3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FFFFFF"/>
                </a:solidFill>
                <a:latin typeface="Manrope"/>
              </a:rPr>
              <a:t>×11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20440"/>
            <a:ext cx="182880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033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FD9FF"/>
                </a:solidFill>
                <a:latin typeface="Manrope"/>
              </a:rPr>
              <a:t>зростання
трафіку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17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AED8"/>
                </a:solidFill>
                <a:latin typeface="Manrope"/>
              </a:rPr>
              <a:t>за 15 місяців роботи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508760"/>
            <a:ext cx="6675120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7830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1B3A6B"/>
                </a:solidFill>
                <a:latin typeface="Manrope"/>
              </a:rPr>
              <a:t>1 650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834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74151"/>
                </a:solidFill>
                <a:latin typeface="Manrope"/>
              </a:rPr>
              <a:t>користувачів / міс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2644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Manrope"/>
              </a:rPr>
              <a:t>на старті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4114800"/>
            <a:ext cx="6675120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43891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2563EB"/>
                </a:solidFill>
                <a:latin typeface="Manrope"/>
              </a:rPr>
              <a:t>20 000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5440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74151"/>
                </a:solidFill>
                <a:latin typeface="Manrope"/>
              </a:rPr>
              <a:t>користувачів / міс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58704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Manrope"/>
              </a:rPr>
              <a:t>через 15 місяців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7280"/>
                </a:solidFill>
                <a:latin typeface="Manrope"/>
              </a:rPr>
              <a:t>Повний кейс: site24.com.ua/kejs-seo-prosuvannya-sajtu-medichnogo-obladnannya/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"/>
            <a:ext cx="1737360" cy="347472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  <a:latin typeface="Manrope"/>
              </a:rPr>
              <a:t>Клієнти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Manrope"/>
              </a:rPr>
              <a:t>Нам довіряють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82880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81328"/>
            <a:ext cx="11274552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0CCDD"/>
                </a:solidFill>
                <a:latin typeface="Manrope"/>
              </a:rPr>
              <a:t>[ Місце для логотипів клієнтів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EB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nrope"/>
              </a:rPr>
              <a:t>site24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64008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943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anrope"/>
              </a:rPr>
              <a:t>Команда Site24
чекає на ваше рішення :)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52928"/>
            <a:ext cx="274320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09067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FD9FF"/>
                </a:solidFill>
                <a:latin typeface="Manrope"/>
              </a:rPr>
              <a:t>site24.com.ua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097280"/>
            <a:ext cx="210312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23760" y="1097280"/>
            <a:ext cx="210312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24928" y="1325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6B"/>
                </a:solidFill>
                <a:latin typeface="Manrope"/>
              </a:rPr>
              <a:t>Юлія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4928" y="19202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Manrope"/>
              </a:rPr>
              <a:t>Клієнт-менеджер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4928" y="24231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Manrope"/>
              </a:rPr>
              <a:t>+38 073 979 93 06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28803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Manrope"/>
              </a:rPr>
              <a:t>tg: yuliastua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5480" y="1097280"/>
            <a:ext cx="210312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55480" y="1097280"/>
            <a:ext cx="210312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56648" y="1325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6B"/>
                </a:solidFill>
                <a:latin typeface="Manrope"/>
              </a:rPr>
              <a:t>Катерина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648" y="19202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Manrope"/>
              </a:rPr>
              <a:t>Керівник студії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24231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Manrope"/>
              </a:rPr>
              <a:t>Технічний аналіз проекту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