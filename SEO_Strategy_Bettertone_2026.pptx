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1731752" cy="54864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7315200" cy="3200400"/>
          </a:xfrm>
          <a:prstGeom prst="rect">
            <a:avLst/>
          </a:prstGeom>
          <a:solidFill>
            <a:srgbClr val="EBF4FF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0" y="2011680"/>
            <a:ext cx="2011680" cy="36576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червень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5603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A1A2E"/>
                </a:solidFill>
                <a:latin typeface="Calibri"/>
              </a:rPr>
              <a:t>Стратегія SEO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3375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B6CE6"/>
                </a:solidFill>
                <a:latin typeface="Calibri"/>
              </a:rPr>
              <a:t>для компанії Беттертон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3977639"/>
            <a:ext cx="13716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B93"/>
                </a:solidFill>
                <a:latin typeface="Calibri"/>
              </a:rPr>
              <a:t>site24.com.ua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Задачі SEO просування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972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03520" cy="411480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73152" cy="41148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6CE6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Лідерство в Google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7315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B93"/>
                </a:solidFill>
                <a:latin typeface="Calibri"/>
              </a:rPr>
              <a:t>Зробити компанію Беттертон лідером в Google по напрямках:
Слухові апарати · Діагностика слуху · ЛОР послуги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303520" cy="411480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73152" cy="41148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6CE6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Результат у цифрах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68880"/>
            <a:ext cx="7315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60604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B93"/>
                </a:solidFill>
                <a:latin typeface="Calibri"/>
              </a:rPr>
              <a:t>Отримання 5 000 замовлень з сайту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Ситуація в видачі Google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972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91672" cy="201168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864" cy="201168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8173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У топі Google за комерційними запитами лідирують інтернет-магазини (sluh.com.ua, vdy.com.ua, evrotonsluh.com.ua), які обходять лідерів за загальними SEO-метриками завдяки краще оптимізованій комерційній структурі сторінок.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11091672" cy="201168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54864" cy="201168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108173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Для якісного аналізу медичної ніші необхідно окремо дослідити специфіку ранжування клінік за ЛОР-запитами, зважаючи на особливості просування мережевих гравців (Oxford Medical) з філіями в різних містах.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Аналіз технічної ситуації по SEO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972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94960" cy="128016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864" cy="128016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Переоптимізація точними входженнями ключових запитів (переспам анкорів)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371600"/>
            <a:ext cx="5394960" cy="128016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371600"/>
            <a:ext cx="54864" cy="128016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5087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Сторінки пагінації закриті від індексації в robots.txt — послуги з пагінацією не ранжуються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5394960" cy="128016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834640"/>
            <a:ext cx="54864" cy="128016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Смислові дублі ЛОР-сторінок, плутанина в мета-тегах (укр/рос версії)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834640"/>
            <a:ext cx="5394960" cy="128016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2834640"/>
            <a:ext cx="54864" cy="128016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9718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Погана швидкодія сайту (PageSpeed), старі URL зі статусом 404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97680"/>
            <a:ext cx="5394960" cy="128016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97680"/>
            <a:ext cx="54864" cy="128016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Видимість в AI Overview є там, де є топ-10 + відповідний контент; у ChatGPT — через Google Maps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Стратегія по SEO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972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0" cy="137160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65760" cy="3657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190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E6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0020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Перебудова сторінки «Слухові апарати» як комерційної сторінки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371600"/>
            <a:ext cx="5486400" cy="137160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0" y="1737360"/>
            <a:ext cx="365760" cy="3657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94576" y="17190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E6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60020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Збір повного семантичного ядра по кожному напрямку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26080"/>
            <a:ext cx="5486400" cy="137160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291840"/>
            <a:ext cx="365760" cy="3657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27355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E6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5468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Технічний SEO аудит + усунення дублів, 404, помилок robots.txt, швидкодії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926080"/>
            <a:ext cx="5486400" cy="137160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3291840"/>
            <a:ext cx="365760" cy="3657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4576" y="327355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E6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15468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Оптимізація під AI-системи: ChatGPT, AI Overview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480560"/>
            <a:ext cx="5486400" cy="137160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846320"/>
            <a:ext cx="365760" cy="3657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8280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E6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7091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Лінкбілдинг: аналіз конкурентів, добір донорів, закупівля якісних посилань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480560"/>
            <a:ext cx="5486400" cy="137160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0" y="4846320"/>
            <a:ext cx="365760" cy="3657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94576" y="48280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E6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7091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Покращення EEAT факторів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План робіт (1-ий місяць)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972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1091672" cy="640080"/>
          </a:xfrm>
          <a:prstGeom prst="rect">
            <a:avLst/>
          </a:prstGeom>
          <a:solidFill>
            <a:srgbClr val="F5F5F7"/>
          </a:solidFill>
          <a:ln w="381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36192"/>
            <a:ext cx="109728" cy="109728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37160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Збір семантичного ядра на слухові апарати і пріоритетні категорії послуг — до 40 груп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11091672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267712"/>
            <a:ext cx="109728" cy="109728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0312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Формування ТЗ на допрацювання структури сайту (нові сторінки, зміна меню)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11091672" cy="640080"/>
          </a:xfrm>
          <a:prstGeom prst="rect">
            <a:avLst/>
          </a:prstGeom>
          <a:solidFill>
            <a:srgbClr val="F5F5F7"/>
          </a:solidFill>
          <a:ln w="381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99232"/>
            <a:ext cx="109728" cy="109728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83464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Написання / оптимізація мета-тегів по зібраній семантиці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11091672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730752"/>
            <a:ext cx="109728" cy="109728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56616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Формування ТЗ на оптимізацію текстів для сторінок — 15 текстів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11091672" cy="640080"/>
          </a:xfrm>
          <a:prstGeom prst="rect">
            <a:avLst/>
          </a:prstGeom>
          <a:solidFill>
            <a:srgbClr val="F5F5F7"/>
          </a:solidFill>
          <a:ln w="381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462272"/>
            <a:ext cx="109728" cy="109728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2976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Формування ТЗ на допрацювання структури сторінки «Слухові апарати»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37760"/>
            <a:ext cx="11091672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5193792"/>
            <a:ext cx="109728" cy="109728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02920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Технічний SEO аудит сайту. Формування ТЗ програмісту на впровадження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69280"/>
            <a:ext cx="11091672" cy="640080"/>
          </a:xfrm>
          <a:prstGeom prst="rect">
            <a:avLst/>
          </a:prstGeom>
          <a:solidFill>
            <a:srgbClr val="F5F5F7"/>
          </a:solidFill>
          <a:ln w="381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925312"/>
            <a:ext cx="109728" cy="109728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76072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Аналіз EEAT факторів конкурентів. Формування ТЗ на допрацювання EEAT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План робіт (2-ий місяць)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972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1091672" cy="640080"/>
          </a:xfrm>
          <a:prstGeom prst="rect">
            <a:avLst/>
          </a:prstGeom>
          <a:solidFill>
            <a:srgbClr val="F5F5F7"/>
          </a:solidFill>
          <a:ln w="381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36192"/>
            <a:ext cx="109728" cy="109728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37160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Перевірка впроваджених правок на сайт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11091672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267712"/>
            <a:ext cx="109728" cy="109728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0312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Контроль написаних текстів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11091672" cy="640080"/>
          </a:xfrm>
          <a:prstGeom prst="rect">
            <a:avLst/>
          </a:prstGeom>
          <a:solidFill>
            <a:srgbClr val="F5F5F7"/>
          </a:solidFill>
          <a:ln w="381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99232"/>
            <a:ext cx="109728" cy="109728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83464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Збір семантичного ядра на послуги ЛОРа / отоларінголога / сурдолога — до 40 груп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11091672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730752"/>
            <a:ext cx="109728" cy="109728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56616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Формування ТЗ на допрацювання структури сайту (створення, зміна, склеювання сторінок)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11091672" cy="640080"/>
          </a:xfrm>
          <a:prstGeom prst="rect">
            <a:avLst/>
          </a:prstGeom>
          <a:solidFill>
            <a:srgbClr val="F5F5F7"/>
          </a:solidFill>
          <a:ln w="381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462272"/>
            <a:ext cx="109728" cy="109728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2976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Написання / оптимізація мета-тегів по зібраній семантиці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37760"/>
            <a:ext cx="11091672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5193792"/>
            <a:ext cx="109728" cy="109728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02920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Формування ТЗ на написання / оптимізацію текстів — 15 текстів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69280"/>
            <a:ext cx="11091672" cy="640080"/>
          </a:xfrm>
          <a:prstGeom prst="rect">
            <a:avLst/>
          </a:prstGeom>
          <a:solidFill>
            <a:srgbClr val="F5F5F7"/>
          </a:solidFill>
          <a:ln w="381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925312"/>
            <a:ext cx="109728" cy="109728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76072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Аналіз посилань конкурентів. Формування стратегії лінкбілдингу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00800"/>
            <a:ext cx="11091672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6656832"/>
            <a:ext cx="109728" cy="109728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649224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Залучення якісних посилань на сайт (статейні посилання, сайти-донори)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План робіт (3-ій місяць і далі)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972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1091672" cy="640080"/>
          </a:xfrm>
          <a:prstGeom prst="rect">
            <a:avLst/>
          </a:prstGeom>
          <a:solidFill>
            <a:srgbClr val="F5F5F7"/>
          </a:solidFill>
          <a:ln w="381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36192"/>
            <a:ext cx="109728" cy="109728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37160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Збір семантичного ядра для сайту (комерційні сторінки або блог)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11091672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267712"/>
            <a:ext cx="109728" cy="109728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0312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Формування мета-тегів і ТЗ на тексти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11091672" cy="640080"/>
          </a:xfrm>
          <a:prstGeom prst="rect">
            <a:avLst/>
          </a:prstGeom>
          <a:solidFill>
            <a:srgbClr val="F5F5F7"/>
          </a:solidFill>
          <a:ln w="381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99232"/>
            <a:ext cx="109728" cy="109728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83464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Контроль технічного стану сайту. Формування ТЗ на правки (за необхідності)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11091672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730752"/>
            <a:ext cx="109728" cy="109728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56616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Формування якісної маси посилань на сайт (статейні, крауд посилання)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11091672" cy="640080"/>
          </a:xfrm>
          <a:prstGeom prst="rect">
            <a:avLst/>
          </a:prstGeom>
          <a:solidFill>
            <a:srgbClr val="F5F5F7"/>
          </a:solidFill>
          <a:ln w="381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462272"/>
            <a:ext cx="109728" cy="109728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2976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Роботи по оптимізації сайту під AI системи — ChatGPT, AI Overview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37760"/>
            <a:ext cx="11091672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5193792"/>
            <a:ext cx="109728" cy="109728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02920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Інші необхідні роботи, виходячи з динаміки проекту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Вартість послуг та інвестицій у сайт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972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029200" cy="4114800"/>
          </a:xfrm>
          <a:prstGeom prst="rect">
            <a:avLst/>
          </a:prstGeom>
          <a:solidFill>
            <a:srgbClr val="EBF4FF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029200" cy="54864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CE6"/>
                </a:solidFill>
                <a:latin typeface="Calibri"/>
              </a:rPr>
              <a:t>1-й місяць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A1A2E"/>
                </a:solidFill>
                <a:latin typeface="Calibri"/>
              </a:rPr>
              <a:t>650$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B93"/>
                </a:solidFill>
                <a:latin typeface="Calibri"/>
              </a:rPr>
              <a:t>Стартовий місяць включає повний аудит,
стратегію та початок впровадження.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212080" cy="411480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521208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2-й місяць та далі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B93"/>
                </a:solidFill>
                <a:latin typeface="Calibri"/>
              </a:rPr>
              <a:t>Роботи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1A2E"/>
                </a:solidFill>
                <a:latin typeface="Calibri"/>
              </a:rPr>
              <a:t>580$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606040"/>
            <a:ext cx="4572000" cy="9144"/>
          </a:xfrm>
          <a:prstGeom prst="rect">
            <a:avLst/>
          </a:prstGeom>
          <a:solidFill>
            <a:srgbClr val="D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B93"/>
                </a:solidFill>
                <a:latin typeface="Calibri"/>
              </a:rPr>
              <a:t>Посилання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1A2E"/>
                </a:solidFill>
                <a:latin typeface="Calibri"/>
              </a:rPr>
              <a:t>550$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337560"/>
            <a:ext cx="4572000" cy="9144"/>
          </a:xfrm>
          <a:prstGeom prst="rect">
            <a:avLst/>
          </a:prstGeom>
          <a:solidFill>
            <a:srgbClr val="D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B93"/>
                </a:solidFill>
                <a:latin typeface="Calibri"/>
              </a:rPr>
              <a:t>Копірайтинг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1A2E"/>
                </a:solidFill>
                <a:latin typeface="Calibri"/>
              </a:rPr>
              <a:t>280 грн / 1000 зн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4069080"/>
            <a:ext cx="4572000" cy="9144"/>
          </a:xfrm>
          <a:prstGeom prst="rect">
            <a:avLst/>
          </a:prstGeom>
          <a:solidFill>
            <a:srgbClr val="D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206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B93"/>
                </a:solidFill>
                <a:latin typeface="Calibri"/>
              </a:rPr>
              <a:t>Впровадження правок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4206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1A2E"/>
                </a:solidFill>
                <a:latin typeface="Calibri"/>
              </a:rPr>
              <a:t>на боці клієнта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B93"/>
                </a:solidFill>
                <a:latin typeface="Calibri"/>
              </a:rPr>
              <a:t>** Оплата здійснюється у форматі передоплати на 1 місяць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Хто працюватиме над проєктом?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972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56616" y="1371600"/>
            <a:ext cx="2560320" cy="411480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" y="1371600"/>
            <a:ext cx="2560320" cy="54864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" y="1554480"/>
            <a:ext cx="365760" cy="3657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5727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E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2057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Проджект-менеджер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" y="2743200"/>
            <a:ext cx="54864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28803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B93"/>
                </a:solidFill>
                <a:latin typeface="Calibri"/>
              </a:rPr>
              <a:t>підтримує всі комунікації та контролює виконання задач у строк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8416" y="1371600"/>
            <a:ext cx="2560320" cy="411480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28416" y="1371600"/>
            <a:ext cx="2560320" cy="54864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11296" y="1554480"/>
            <a:ext cx="365760" cy="3657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5727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E6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057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SEO фахівець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11296" y="2743200"/>
            <a:ext cx="54864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8803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B93"/>
                </a:solidFill>
                <a:latin typeface="Calibri"/>
              </a:rPr>
              <a:t>аналіз сайту та конкурентів, технічний аудит, стратегія просування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0216" y="1371600"/>
            <a:ext cx="2560320" cy="411480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0216" y="1371600"/>
            <a:ext cx="2560320" cy="54864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83096" y="1554480"/>
            <a:ext cx="365760" cy="3657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15727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E6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2057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Семантик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83096" y="2743200"/>
            <a:ext cx="54864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3096" y="28803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B93"/>
                </a:solidFill>
                <a:latin typeface="Calibri"/>
              </a:rPr>
              <a:t>розширення семантики у поточних групах та збір ключів для нових категорій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72016" y="1371600"/>
            <a:ext cx="2560320" cy="411480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72016" y="1371600"/>
            <a:ext cx="2560320" cy="54864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54896" y="1554480"/>
            <a:ext cx="365760" cy="3657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91472" y="15727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E6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4896" y="2057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Лінкбілдер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54896" y="2743200"/>
            <a:ext cx="54864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54896" y="28803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B93"/>
                </a:solidFill>
                <a:latin typeface="Calibri"/>
              </a:rPr>
              <a:t>закупівля посилань на категорії, що просуваються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Звітність в роботі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972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94960" cy="128016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864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Звіт з проведених та запланованих робіт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371600"/>
            <a:ext cx="5394960" cy="128016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371600"/>
            <a:ext cx="54864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6916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Звіт з трафіку та конверсій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5394960" cy="128016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834640"/>
            <a:ext cx="54864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546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Звіт по закуплених посиланнях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834640"/>
            <a:ext cx="5394960" cy="128016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2834640"/>
            <a:ext cx="54864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1546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Звіт по позиціях в Google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11091672" cy="1371600"/>
          </a:xfrm>
          <a:prstGeom prst="rect">
            <a:avLst/>
          </a:prstGeom>
          <a:solidFill>
            <a:srgbClr val="EBF4FF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754880"/>
            <a:ext cx="105430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B6CE6"/>
                </a:solidFill>
                <a:latin typeface="Calibri"/>
              </a:rPr>
              <a:t>Наш головний принцип — прозорість відповідей, бюджетів та звітів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Наш кейс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972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91672" cy="3657600"/>
          </a:xfrm>
          <a:prstGeom prst="rect">
            <a:avLst/>
          </a:prstGeom>
          <a:solidFill>
            <a:srgbClr val="EBF4FF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73152" cy="36576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За 15 місяців наших робіт пошуковий трафік збільшився 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B6CE6"/>
                </a:solidFill>
                <a:latin typeface="Calibri"/>
              </a:rPr>
              <a:t>11 разів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з 1 650 користувачів на місяць до 20 000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703320"/>
            <a:ext cx="18288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B93"/>
                </a:solidFill>
                <a:latin typeface="Calibri"/>
              </a:rPr>
              <a:t>Медичне обладнання · повний кейс на site24.com.ua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Нам довіряють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972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B7B93"/>
                </a:solidFill>
                <a:latin typeface="Calibri"/>
              </a:rPr>
              <a:t>Логотипи клієнтів розміщуються тут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00400"/>
            <a:ext cx="8531352" cy="36576"/>
          </a:xfrm>
          <a:prstGeom prst="rect">
            <a:avLst/>
          </a:prstGeom>
          <a:solidFill>
            <a:srgbClr val="D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1731752" cy="54864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Команда Site24 чекає на ваше рішення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148840"/>
            <a:ext cx="22860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468880"/>
            <a:ext cx="4389120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468880"/>
            <a:ext cx="4389120" cy="54864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6517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Юлія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154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6CE6"/>
                </a:solidFill>
                <a:latin typeface="Calibri"/>
              </a:rPr>
              <a:t>Клієнт-менеджер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657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B93"/>
                </a:solidFill>
                <a:latin typeface="Calibri"/>
              </a:rPr>
              <a:t>+38 073 979 93 06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114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B93"/>
                </a:solidFill>
                <a:latin typeface="Calibri"/>
              </a:rPr>
              <a:t>tg: yuliastua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468880"/>
            <a:ext cx="4389120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468880"/>
            <a:ext cx="4389120" cy="54864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6517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Катерина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154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6CE6"/>
                </a:solidFill>
                <a:latin typeface="Calibri"/>
              </a:rPr>
              <a:t>Керівник студії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657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B93"/>
                </a:solidFill>
                <a:latin typeface="Calibri"/>
              </a:rPr>
              <a:t>Технічний аналіз проекту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