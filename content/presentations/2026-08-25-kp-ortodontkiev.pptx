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te24.com.ua/ppc-reklama-stomatologichnoi-kliniki-na-rinok-ssha/" TargetMode="External"/><Relationship Id="rId3" Type="http://schemas.openxmlformats.org/officeDocument/2006/relationships/hyperlink" Target="https://site24.com.ua/tag/kejsi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site24.com.ua/yak-zbilshyty-kilkist-konversij-iz-kontekstnoyi-reklamy-na-251-ta-poproshhatysya-z-kliyentom-kejs-studix-eu/" TargetMode="External"/><Relationship Id="rId3" Type="http://schemas.openxmlformats.org/officeDocument/2006/relationships/hyperlink" Target="https://site24.com.ua/ppc-dlya-e-commerce-zrostannya-dohodu-v-25-razi-za-odin-rik/" TargetMode="External"/><Relationship Id="rId4" Type="http://schemas.openxmlformats.org/officeDocument/2006/relationships/hyperlink" Target="https://site24.com.ua/tag/kejsi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t.me/katerinazolotaryova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800" y="711200"/>
            <a:ext cx="2837688" cy="342900"/>
          </a:xfrm>
          <a:prstGeom prst="roundRect">
            <a:avLst>
              <a:gd name="adj" fmla="val 50000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711200"/>
            <a:ext cx="283768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Ubuntu"/>
              </a:rPr>
              <a:t>PPC-РЕКЛАМА · GOOGLE 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19200"/>
            <a:ext cx="10541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0E0E3A"/>
                </a:solidFill>
                <a:latin typeface="Ubuntu"/>
              </a:rPr>
              <a:t>Комерційна пропозиція для </a:t>
            </a:r>
            <a:r>
              <a:rPr sz="3800" b="1" i="0">
                <a:solidFill>
                  <a:srgbClr val="2966FF"/>
                </a:solidFill>
                <a:latin typeface="Ubuntu"/>
              </a:rPr>
              <a:t>ortodontkiev.com.ua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667000"/>
            <a:ext cx="9652000" cy="965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E6E88"/>
                </a:solidFill>
                <a:latin typeface="Ubuntu"/>
              </a:rPr>
              <a:t>Ціль: лідогенерація через Google Ads на послуги ортодонтії — консультацію ортодонта, брекети, елайнери та ортодонтичні апарати.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3810000"/>
            <a:ext cx="3810000" cy="50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2800" y="4191000"/>
            <a:ext cx="3302000" cy="149860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200" y="43942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966FF"/>
                </a:solidFill>
                <a:latin typeface="Ubuntu"/>
              </a:rPr>
              <a:t>$504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200" y="50038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налаштування · 1-й місяць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4191000"/>
            <a:ext cx="3302000" cy="149860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400" y="43942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966FF"/>
                </a:solidFill>
                <a:latin typeface="Ubuntu"/>
              </a:rPr>
              <a:t>$324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400" y="50038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оптимізація · щомісяця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23200" y="4191000"/>
            <a:ext cx="3302000" cy="1498600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2600" y="43942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966FF"/>
                </a:solidFill>
                <a:latin typeface="Ubuntu"/>
              </a:rPr>
              <a:t>22 500 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2600" y="5003800"/>
            <a:ext cx="27940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бюджет на кліки / міс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6E6E88"/>
                </a:solidFill>
                <a:latin typeface="Ubuntu"/>
              </a:rPr>
              <a:t>серпень 2026</a:t>
            </a:r>
            <a:r>
              <a:rPr sz="1300" b="0" i="0">
                <a:solidFill>
                  <a:srgbClr val="CED2DE"/>
                </a:solidFill>
                <a:latin typeface="Ubuntu"/>
              </a:rPr>
              <a:t>      ·      </a:t>
            </a:r>
            <a:r>
              <a:rPr sz="13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0E3A"/>
                </a:solidFill>
                <a:latin typeface="Ubuntu"/>
              </a:rPr>
              <a:t>Стратегія </a:t>
            </a:r>
            <a:r>
              <a:rPr sz="3000" b="1" i="0">
                <a:solidFill>
                  <a:srgbClr val="2966FF"/>
                </a:solidFill>
                <a:latin typeface="Ubuntu"/>
              </a:rPr>
              <a:t>роботи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549400"/>
            <a:ext cx="3429000" cy="3200400"/>
          </a:xfrm>
          <a:prstGeom prst="roundRect">
            <a:avLst>
              <a:gd name="adj" fmla="val 7142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6800" y="18288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6800" y="2082800"/>
            <a:ext cx="294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0E0E3A"/>
                </a:solidFill>
                <a:latin typeface="Ubuntu"/>
              </a:rPr>
              <a:t>Пошукові оголошення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2921000"/>
            <a:ext cx="294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Налаштовуємо рекламні пошукові оголошення за релевантними запитами користувачів: «брекети Київ», «елайнери ціна», «консультація ортодонта» тощо.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1500" y="1549400"/>
            <a:ext cx="3429000" cy="3200400"/>
          </a:xfrm>
          <a:prstGeom prst="roundRect">
            <a:avLst>
              <a:gd name="adj" fmla="val 7142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35500" y="18288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5500" y="2082800"/>
            <a:ext cx="294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0E0E3A"/>
                </a:solidFill>
                <a:latin typeface="Ubuntu"/>
              </a:rPr>
              <a:t>Акцент на перевагах клініки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5500" y="2921000"/>
            <a:ext cx="294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В оголошеннях і на посадкових сторінках виділяємо переваги ortodontkiev.com.ua, щоб вигідно відрізнятися від конкурентів у видачі.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0200" y="1549400"/>
            <a:ext cx="3429000" cy="3200400"/>
          </a:xfrm>
          <a:prstGeom prst="roundRect">
            <a:avLst>
              <a:gd name="adj" fmla="val 7142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04200" y="1828800"/>
            <a:ext cx="482600" cy="508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4200" y="2082800"/>
            <a:ext cx="29464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700" b="1" i="0">
                <a:solidFill>
                  <a:srgbClr val="0E0E3A"/>
                </a:solidFill>
                <a:latin typeface="Ubuntu"/>
              </a:rPr>
              <a:t>Розширення оголошень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4200" y="2921000"/>
            <a:ext cx="2946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Використовуємо розширення (уточнення, номер телефону, адреса, посилання) для більшої привабливості в пошуку та відповідності запитам.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2800" y="635000"/>
            <a:ext cx="3349498" cy="342900"/>
          </a:xfrm>
          <a:prstGeom prst="roundRect">
            <a:avLst>
              <a:gd name="adj" fmla="val 50000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635000"/>
            <a:ext cx="3349498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Ubuntu"/>
              </a:rPr>
              <a:t>PPC-КЕЙС · РЕЛЕВАНТНИЙ ДОСВІД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0160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E0E3A"/>
                </a:solidFill>
                <a:latin typeface="Ubuntu"/>
              </a:rPr>
              <a:t>Кейс: </a:t>
            </a:r>
            <a:r>
              <a:rPr sz="2700" b="1" i="0">
                <a:solidFill>
                  <a:srgbClr val="2966FF"/>
                </a:solidFill>
                <a:latin typeface="Ubuntu"/>
              </a:rPr>
              <a:t>стоматологічна клініка в Нью-Йорку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1701800"/>
            <a:ext cx="105664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6E6E88"/>
                </a:solidFill>
                <a:latin typeface="Ubuntu"/>
              </a:rPr>
              <a:t>Комплексна стоматологія (імпланти, вініри, невідкладна допомога), Квінз, Нью-Йорк. Пошукова реклама Google на висококонкурентний ринок США.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311400"/>
            <a:ext cx="10566400" cy="762000"/>
          </a:xfrm>
          <a:prstGeom prst="roundRect">
            <a:avLst>
              <a:gd name="adj" fmla="val 23333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2200" y="2565400"/>
            <a:ext cx="50800" cy="2794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0800" y="2311400"/>
            <a:ext cx="98044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Задача: </a:t>
            </a:r>
            <a:r>
              <a:rPr sz="1300" b="0" i="0">
                <a:solidFill>
                  <a:srgbClr val="6E6E88"/>
                </a:solidFill>
                <a:latin typeface="Ubuntu"/>
              </a:rPr>
              <a:t>залучити максимум нових пацієнтів через пошукову рекламу на висококонкурентному ринку — медична тематика з тими самими викликами: висока вартість ліда, довгий цикл рішення, довіра до лікаря.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276600"/>
            <a:ext cx="2540000" cy="1778000"/>
          </a:xfrm>
          <a:prstGeom prst="roundRect">
            <a:avLst>
              <a:gd name="adj" fmla="val 12857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2200" y="35306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200" y="3784600"/>
            <a:ext cx="203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966FF"/>
                </a:solidFill>
                <a:latin typeface="Ubuntu"/>
              </a:rPr>
              <a:t>636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200" y="44196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88"/>
                </a:solidFill>
                <a:latin typeface="Ubuntu"/>
              </a:rPr>
              <a:t>заявок на місяць — з 5 на старті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92500" y="3276600"/>
            <a:ext cx="2540000" cy="1778000"/>
          </a:xfrm>
          <a:prstGeom prst="roundRect">
            <a:avLst>
              <a:gd name="adj" fmla="val 12857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71900" y="35306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1900" y="3784600"/>
            <a:ext cx="203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966FF"/>
                </a:solidFill>
                <a:latin typeface="Ubuntu"/>
              </a:rPr>
              <a:t>13,26%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1900" y="44196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88"/>
                </a:solidFill>
                <a:latin typeface="Ubuntu"/>
              </a:rPr>
              <a:t>CTR пошукових оголошень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276600"/>
            <a:ext cx="2540000" cy="1778000"/>
          </a:xfrm>
          <a:prstGeom prst="roundRect">
            <a:avLst>
              <a:gd name="adj" fmla="val 12857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1600" y="35306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1600" y="3784600"/>
            <a:ext cx="203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966FF"/>
                </a:solidFill>
                <a:latin typeface="Ubuntu"/>
              </a:rPr>
              <a:t>$25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1600" y="44196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88"/>
                </a:solidFill>
                <a:latin typeface="Ubuntu"/>
              </a:rPr>
              <a:t>ціна конверсії — було $574 на старті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51900" y="3276600"/>
            <a:ext cx="2540000" cy="1778000"/>
          </a:xfrm>
          <a:prstGeom prst="roundRect">
            <a:avLst>
              <a:gd name="adj" fmla="val 12857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1300" y="35306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31300" y="3784600"/>
            <a:ext cx="203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2966FF"/>
                </a:solidFill>
                <a:latin typeface="Ubuntu"/>
              </a:rPr>
              <a:t>1 975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31300" y="44196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88"/>
                </a:solidFill>
                <a:latin typeface="Ubuntu"/>
              </a:rPr>
              <a:t>конверсій за 6 місяців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5384800"/>
            <a:ext cx="4064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966FF"/>
                </a:solidFill>
                <a:latin typeface="Ubuntu"/>
                <a:hlinkClick r:id="rId2"/>
              </a:rPr>
              <a:t>Детальніше про кейс  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2400" y="5384800"/>
            <a:ext cx="4064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400" b="1">
                <a:solidFill>
                  <a:srgbClr val="6E6E88"/>
                </a:solidFill>
                <a:latin typeface="Ubuntu"/>
                <a:hlinkClick r:id="rId3"/>
              </a:rPr>
              <a:t>Читати всі кейси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0E3A"/>
                </a:solidFill>
                <a:latin typeface="Ubuntu"/>
              </a:rPr>
              <a:t>Ще наші </a:t>
            </a:r>
            <a:r>
              <a:rPr sz="3000" b="1" i="0">
                <a:solidFill>
                  <a:srgbClr val="2966FF"/>
                </a:solidFill>
                <a:latin typeface="Ubuntu"/>
              </a:rPr>
              <a:t>PPC-кейси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498600"/>
            <a:ext cx="5156200" cy="3810000"/>
          </a:xfrm>
          <a:prstGeom prst="roundRect">
            <a:avLst>
              <a:gd name="adj" fmla="val 6000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778000"/>
            <a:ext cx="4495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0E3A"/>
                </a:solidFill>
                <a:latin typeface="Ubuntu"/>
              </a:rPr>
              <a:t>Studix.eu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235200"/>
            <a:ext cx="449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Освіта за кордоном — набір у польські ВНЗ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8194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+251%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512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конверсій (45 → 158)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9800" y="28194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−39%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9800" y="32512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ціна конверсії (268 → 164 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0386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158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704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лідів за 4 місяці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9800" y="40386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4 міс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800" y="44704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тривалість проєкту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800600"/>
            <a:ext cx="44958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966FF"/>
                </a:solidFill>
                <a:latin typeface="Ubuntu"/>
                <a:hlinkClick r:id="rId2"/>
              </a:rPr>
              <a:t>Детальніше про кейс  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0" y="1498600"/>
            <a:ext cx="5156200" cy="3810000"/>
          </a:xfrm>
          <a:prstGeom prst="roundRect">
            <a:avLst>
              <a:gd name="adj" fmla="val 6000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3200" y="1778000"/>
            <a:ext cx="44958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0E3A"/>
                </a:solidFill>
                <a:latin typeface="Ubuntu"/>
              </a:rPr>
              <a:t>The Tea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2235200"/>
            <a:ext cx="4495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E-commerce — китайський чай (thetea.ua)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28194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×2,5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2512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дохід за рік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0000" y="28194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×2,3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0000" y="32512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транзакції (940 → 2143)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40386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+200%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44704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ROAS (333% → 523%)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0000" y="4038600"/>
            <a:ext cx="2159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966FF"/>
                </a:solidFill>
                <a:latin typeface="Ubuntu"/>
              </a:rPr>
              <a:t>30+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000" y="4470400"/>
            <a:ext cx="215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050" b="0" i="0">
                <a:solidFill>
                  <a:srgbClr val="6E6E88"/>
                </a:solidFill>
                <a:latin typeface="Ubuntu"/>
              </a:rPr>
              <a:t>нових кампаній Google 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3200" y="4800600"/>
            <a:ext cx="44958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1">
                <a:solidFill>
                  <a:srgbClr val="2966FF"/>
                </a:solidFill>
                <a:latin typeface="Ubuntu"/>
                <a:hlinkClick r:id="rId3"/>
              </a:rPr>
              <a:t>Детальніше про кейс 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00" y="5511800"/>
            <a:ext cx="5080000" cy="279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6E6E88"/>
                </a:solidFill>
                <a:latin typeface="Ubuntu"/>
                <a:hlinkClick r:id="rId4"/>
              </a:rPr>
              <a:t>Читати всі кейси на сайті 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i="0">
                <a:solidFill>
                  <a:srgbClr val="0E0E3A"/>
                </a:solidFill>
                <a:latin typeface="Ubuntu"/>
              </a:rPr>
              <a:t>Контекстна реклама від </a:t>
            </a:r>
            <a:r>
              <a:rPr sz="2800" b="1" i="0">
                <a:solidFill>
                  <a:srgbClr val="2966FF"/>
                </a:solidFill>
                <a:latin typeface="Ubuntu"/>
              </a:rPr>
              <a:t>Site24</a:t>
            </a:r>
            <a:r>
              <a:rPr sz="2800" b="1" i="0">
                <a:solidFill>
                  <a:srgbClr val="0E0E3A"/>
                </a:solidFill>
                <a:latin typeface="Ubuntu"/>
              </a:rPr>
              <a:t> у цифрах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651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2200" y="19812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2352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2966FF"/>
                </a:solidFill>
                <a:latin typeface="Ubuntu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200" y="29210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років на ринку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2500" y="1651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71900" y="19812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1900" y="22352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2966FF"/>
                </a:solidFill>
                <a:latin typeface="Ubuntu"/>
              </a:rPr>
              <a:t>1000+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1900" y="29210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клієнтів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51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51600" y="19812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1600" y="22352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2966FF"/>
                </a:solidFill>
                <a:latin typeface="Ubuntu"/>
              </a:rPr>
              <a:t>86%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1600" y="29210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успішних проєктів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1900" y="1651000"/>
            <a:ext cx="2540000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31300" y="1981200"/>
            <a:ext cx="177800" cy="1778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1300" y="22352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2966FF"/>
                </a:solidFill>
                <a:latin typeface="Ubuntu"/>
              </a:rPr>
              <a:t>30+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1300" y="2921000"/>
            <a:ext cx="208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50" b="0" i="0">
                <a:solidFill>
                  <a:srgbClr val="6E6E88"/>
                </a:solidFill>
                <a:latin typeface="Ubuntu"/>
              </a:rPr>
              <a:t>ніш бізнесу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" y="4013200"/>
            <a:ext cx="10566400" cy="1219200"/>
          </a:xfrm>
          <a:prstGeom prst="roundRect">
            <a:avLst>
              <a:gd name="adj" fmla="val 16666"/>
            </a:avLst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medic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4318000"/>
            <a:ext cx="609600" cy="609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981200" y="4013200"/>
            <a:ext cx="74930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 i="0">
                <a:solidFill>
                  <a:srgbClr val="FFFFFF"/>
                </a:solidFill>
                <a:latin typeface="Ubuntu"/>
              </a:rPr>
              <a:t>Медична / стоматологічна тематика — одна з наших профільних ніш: </a:t>
            </a:r>
            <a:r>
              <a:rPr sz="1450" b="0" i="0">
                <a:solidFill>
                  <a:srgbClr val="94FCB1"/>
                </a:solidFill>
                <a:latin typeface="Ubuntu"/>
              </a:rPr>
              <a:t>розуміємо специфіку довіри пацієнта, вартості ліда та роботи з call-tracking.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52000" y="4191000"/>
            <a:ext cx="1371600" cy="8636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google-part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9000" y="4480430"/>
            <a:ext cx="1117600" cy="28473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 i="0">
                <a:solidFill>
                  <a:srgbClr val="0E0E3A"/>
                </a:solidFill>
                <a:latin typeface="Ubuntu"/>
              </a:rPr>
              <a:t>План роботи. </a:t>
            </a:r>
            <a:r>
              <a:rPr sz="2500" b="1" i="0">
                <a:solidFill>
                  <a:srgbClr val="2966FF"/>
                </a:solidFill>
                <a:latin typeface="Ubuntu"/>
              </a:rPr>
              <a:t>Налаштування реклами — 1 місяць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3970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397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2400" y="13589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Створення акаунтів GA4 (Google Analytics), Google Ads, Google Tag Manager (GTM).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1336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2133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2400" y="20955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Налаштування аналітики та відстеження конверсій: цілі в GA4, зв'язка Google Ads і Analytics, передача конверсійних дій.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28702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28702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2400" y="28321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Звітність, комунікація з акаунт-менеджером — увесь місяць.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36068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800" y="36068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2400" y="35687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Створення категорійних пошукових кампаній «Консультація ортодонта», «Брекети», «Елайнери», «Ортодонтичні апарати»: збір ключів, розширення семантики, мінус-слова, кластеризація груп, тексти оголошень (15 заголовків, 5 описів, URL, лого, зображення), стратегія ставок, модерація.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7752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800" y="47752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2400" y="47371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Аналіз роботи акаунту: покази, аукціони, конкуренти, точки зростання — раз на місяць.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800" y="5867400"/>
            <a:ext cx="10566400" cy="584200"/>
          </a:xfrm>
          <a:prstGeom prst="roundRect">
            <a:avLst>
              <a:gd name="adj" fmla="val 21739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7600" y="5867400"/>
            <a:ext cx="10160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Разом: 28 год</a:t>
            </a:r>
            <a:r>
              <a:rPr sz="1300" b="0" i="0">
                <a:solidFill>
                  <a:srgbClr val="6E6E88"/>
                </a:solidFill>
                <a:latin typeface="Ubuntu"/>
              </a:rPr>
              <a:t>    ·    Вартість: $504 · одноразово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E0E3A"/>
                </a:solidFill>
                <a:latin typeface="Ubuntu"/>
              </a:rPr>
              <a:t>План роботи. </a:t>
            </a:r>
            <a:r>
              <a:rPr sz="2700" b="1" i="0">
                <a:solidFill>
                  <a:srgbClr val="2966FF"/>
                </a:solidFill>
                <a:latin typeface="Ubuntu"/>
              </a:rPr>
              <a:t>Щомісячна оптимізація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4986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14986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22400" y="14605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Звітність, комунікація з акаунт-менеджером — увесь місяць.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4638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24638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2400" y="24257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Ведення пошукової реклами (Search + Brand): оптимізація ключових слів, аналіз пошукових запитів і мінус-слова, оптимізація текстів оголошень, тестування автостратегій, перерозподіл бюджетів — раз на тиждень; перевірка форм на сайті — раз на два тижні; контроль балансу кабінету — щоденно.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064000"/>
            <a:ext cx="381000" cy="381000"/>
          </a:xfrm>
          <a:prstGeom prst="roundRect">
            <a:avLst>
              <a:gd name="adj" fmla="val 26666"/>
            </a:avLst>
          </a:prstGeom>
          <a:solidFill>
            <a:srgbClr val="DAF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2800" y="406400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2966FF"/>
                </a:solidFill>
                <a:latin typeface="Ubuntu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2400" y="4025900"/>
            <a:ext cx="9956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6E6E88"/>
                </a:solidFill>
                <a:latin typeface="Ubuntu"/>
              </a:rPr>
              <a:t>Аналіз роботи облікового запису: покази, аукціони, конкуренти, точки зростання — раз на місяць.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800" y="5791200"/>
            <a:ext cx="10566400" cy="584200"/>
          </a:xfrm>
          <a:prstGeom prst="roundRect">
            <a:avLst>
              <a:gd name="adj" fmla="val 21739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600" y="5791200"/>
            <a:ext cx="10160000" cy="584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Разом: 18 год / міс</a:t>
            </a:r>
            <a:r>
              <a:rPr sz="1300" b="0" i="0">
                <a:solidFill>
                  <a:srgbClr val="6E6E88"/>
                </a:solidFill>
                <a:latin typeface="Ubuntu"/>
              </a:rPr>
              <a:t>    ·    Бюджет: $324 / місяць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0E3A"/>
                </a:solidFill>
                <a:latin typeface="Ubuntu"/>
              </a:rPr>
              <a:t>Бюджет на </a:t>
            </a:r>
            <a:r>
              <a:rPr sz="3000" b="1" i="0">
                <a:solidFill>
                  <a:srgbClr val="2966FF"/>
                </a:solidFill>
                <a:latin typeface="Ubuntu"/>
              </a:rPr>
              <a:t>роботи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2800" y="1651000"/>
            <a:ext cx="51562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800" y="1651000"/>
            <a:ext cx="5156200" cy="762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68400" y="20828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966FF"/>
                </a:solidFill>
                <a:latin typeface="Ubuntu"/>
              </a:rPr>
              <a:t>1 ЕТАП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8400" y="2438400"/>
            <a:ext cx="444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0E3A"/>
                </a:solidFill>
                <a:latin typeface="Ubuntu"/>
              </a:rPr>
              <a:t>Налаштування рекламних кампаній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8400" y="3581400"/>
            <a:ext cx="4445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E0E3A"/>
                </a:solidFill>
                <a:latin typeface="Ubuntu"/>
              </a:rPr>
              <a:t>$504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8400" y="45212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88"/>
                </a:solidFill>
                <a:latin typeface="Ubuntu"/>
              </a:rPr>
              <a:t>1 місяць · одноразово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651000"/>
            <a:ext cx="5156200" cy="381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23000" y="1651000"/>
            <a:ext cx="5156200" cy="76200"/>
          </a:xfrm>
          <a:prstGeom prst="rect">
            <a:avLst/>
          </a:prstGeom>
          <a:solidFill>
            <a:srgbClr val="29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8600" y="2082800"/>
            <a:ext cx="444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2966FF"/>
                </a:solidFill>
                <a:latin typeface="Ubuntu"/>
              </a:rPr>
              <a:t>2 ЕТАП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8600" y="2438400"/>
            <a:ext cx="444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0E0E3A"/>
                </a:solidFill>
                <a:latin typeface="Ubuntu"/>
              </a:rPr>
              <a:t>Щомісячна оптимізація реклами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8600" y="3581400"/>
            <a:ext cx="444500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 i="0">
                <a:solidFill>
                  <a:srgbClr val="0E0E3A"/>
                </a:solidFill>
                <a:latin typeface="Ubuntu"/>
              </a:rPr>
              <a:t>$324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8600" y="4521200"/>
            <a:ext cx="444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6E6E88"/>
                </a:solidFill>
                <a:latin typeface="Ubuntu"/>
              </a:rPr>
              <a:t>щомісячно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57404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6E88"/>
                </a:solidFill>
                <a:latin typeface="Ubuntu"/>
              </a:rPr>
              <a:t>* Вказана вартість послуг Site24. Бюджет на рекламні кліки в Google Ads оплачується клієнтом окремо — див. наступний слайд.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350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E0E3A"/>
                </a:solidFill>
                <a:latin typeface="Ubuntu"/>
              </a:rPr>
              <a:t>Прорахунок бюджету на </a:t>
            </a:r>
            <a:r>
              <a:rPr sz="2700" b="1" i="0">
                <a:solidFill>
                  <a:srgbClr val="2966FF"/>
                </a:solidFill>
                <a:latin typeface="Ubuntu"/>
              </a:rPr>
              <a:t>кліки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812800" y="1498600"/>
            <a:ext cx="3276600" cy="533400"/>
          </a:xfrm>
          <a:prstGeom prst="rect">
            <a:avLst/>
          </a:prstGeom>
          <a:solidFill>
            <a:srgbClr val="0E0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0600" y="1498600"/>
            <a:ext cx="2971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Ubuntu"/>
              </a:rPr>
              <a:t>Кампанія</a:t>
            </a:r>
          </a:p>
        </p:txBody>
      </p:sp>
      <p:sp>
        <p:nvSpPr>
          <p:cNvPr id="5" name="Rectangle 4"/>
          <p:cNvSpPr/>
          <p:nvPr/>
        </p:nvSpPr>
        <p:spPr>
          <a:xfrm>
            <a:off x="4089400" y="1498600"/>
            <a:ext cx="1828800" cy="533400"/>
          </a:xfrm>
          <a:prstGeom prst="rect">
            <a:avLst/>
          </a:prstGeom>
          <a:solidFill>
            <a:srgbClr val="0E0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67200" y="14986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Ubuntu"/>
              </a:rPr>
              <a:t>Бюджет / день, ₴</a:t>
            </a:r>
          </a:p>
        </p:txBody>
      </p:sp>
      <p:sp>
        <p:nvSpPr>
          <p:cNvPr id="7" name="Rectangle 6"/>
          <p:cNvSpPr/>
          <p:nvPr/>
        </p:nvSpPr>
        <p:spPr>
          <a:xfrm>
            <a:off x="5918200" y="1498600"/>
            <a:ext cx="1828800" cy="533400"/>
          </a:xfrm>
          <a:prstGeom prst="rect">
            <a:avLst/>
          </a:prstGeom>
          <a:solidFill>
            <a:srgbClr val="0E0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0" y="14986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Ubuntu"/>
              </a:rPr>
              <a:t>Aver. CPC, ₴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7000" y="1498600"/>
            <a:ext cx="1816100" cy="533400"/>
          </a:xfrm>
          <a:prstGeom prst="rect">
            <a:avLst/>
          </a:prstGeom>
          <a:solidFill>
            <a:srgbClr val="0E0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800" y="14986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Ubuntu"/>
              </a:rPr>
              <a:t>Кліків / міс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63100" y="1498600"/>
            <a:ext cx="1816100" cy="533400"/>
          </a:xfrm>
          <a:prstGeom prst="rect">
            <a:avLst/>
          </a:prstGeom>
          <a:solidFill>
            <a:srgbClr val="0E0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40900" y="14986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Ubuntu"/>
              </a:rPr>
              <a:t>Бюджет / міс, 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800" y="2032000"/>
            <a:ext cx="32766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0600" y="2032000"/>
            <a:ext cx="2971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Ортодонт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89400" y="2032000"/>
            <a:ext cx="1828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7200" y="20320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18200" y="2032000"/>
            <a:ext cx="1828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0" y="20320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10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47000" y="2032000"/>
            <a:ext cx="18161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4800" y="20320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450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63100" y="2032000"/>
            <a:ext cx="18161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0900" y="20320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4 500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800" y="2565400"/>
            <a:ext cx="32766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0600" y="2565400"/>
            <a:ext cx="2971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Брекети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89400" y="2565400"/>
            <a:ext cx="18288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67200" y="25654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18200" y="2565400"/>
            <a:ext cx="18288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96000" y="25654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13,3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7000" y="2565400"/>
            <a:ext cx="18161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4800" y="25654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451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3100" y="2565400"/>
            <a:ext cx="18161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40900" y="25654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6 000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800" y="3098800"/>
            <a:ext cx="32766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0600" y="3098800"/>
            <a:ext cx="2971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Елайнери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89400" y="3098800"/>
            <a:ext cx="1828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7200" y="30988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250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18200" y="3098800"/>
            <a:ext cx="1828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6000" y="30988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47000" y="3098800"/>
            <a:ext cx="18161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4800" y="30988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341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63100" y="3098800"/>
            <a:ext cx="18161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740900" y="30988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7 500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2800" y="3632200"/>
            <a:ext cx="32766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0600" y="3632200"/>
            <a:ext cx="2971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Ортодонтичні апарати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089400" y="3632200"/>
            <a:ext cx="18288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7200" y="36322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150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18200" y="3632200"/>
            <a:ext cx="18288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96000" y="36322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47000" y="3632200"/>
            <a:ext cx="18161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4800" y="36322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1 125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63100" y="3632200"/>
            <a:ext cx="1816100" cy="533400"/>
          </a:xfrm>
          <a:prstGeom prst="rect">
            <a:avLst/>
          </a:prstGeom>
          <a:solidFill>
            <a:srgbClr val="E6FAEE"/>
          </a:solidFill>
          <a:ln w="1270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40900" y="36322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0E0E3A"/>
                </a:solidFill>
                <a:latin typeface="Ubuntu"/>
              </a:rPr>
              <a:t>4 500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2800" y="4165600"/>
            <a:ext cx="3276600" cy="5334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0600" y="4165600"/>
            <a:ext cx="2971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Разом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089400" y="4165600"/>
            <a:ext cx="1828800" cy="5334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67200" y="41656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750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18200" y="4165600"/>
            <a:ext cx="1828800" cy="5334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6000" y="4165600"/>
            <a:ext cx="1524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47000" y="4165600"/>
            <a:ext cx="1816100" cy="5334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24800" y="41656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2 367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63100" y="4165600"/>
            <a:ext cx="1816100" cy="533400"/>
          </a:xfrm>
          <a:prstGeom prst="rect">
            <a:avLst/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40900" y="4165600"/>
            <a:ext cx="15113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300" b="1" i="0">
                <a:solidFill>
                  <a:srgbClr val="0E0E3A"/>
                </a:solidFill>
                <a:latin typeface="Ubuntu"/>
              </a:rPr>
              <a:t>22 500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2800" y="4978400"/>
            <a:ext cx="105664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 i="0">
                <a:solidFill>
                  <a:srgbClr val="6E6E88"/>
                </a:solidFill>
                <a:latin typeface="Ubuntu"/>
              </a:rPr>
              <a:t>* Бюджет на кліки — окремо від вартості послуг Site24, оплачується напряму в Google Ads. Середня ціна за клік (Aver. CPC) орієнтовна та залежить від аукціону; кількість кліків розрахована виходячи з денного бюджету напряму.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685800"/>
            <a:ext cx="10922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0E0E3A"/>
                </a:solidFill>
                <a:latin typeface="Ubuntu"/>
              </a:rPr>
              <a:t>Нам </a:t>
            </a:r>
            <a:r>
              <a:rPr sz="3000" b="1" i="0">
                <a:solidFill>
                  <a:srgbClr val="2966FF"/>
                </a:solidFill>
                <a:latin typeface="Ubuntu"/>
              </a:rPr>
              <a:t>довіряють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397000"/>
            <a:ext cx="105664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6E6E88"/>
                </a:solidFill>
                <a:latin typeface="Ubuntu"/>
              </a:rPr>
              <a:t>Ми ведемо контекстну рекламу для бізнесів у різних нішах — від медицини й освіти до e-commerce та послуг.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159000"/>
            <a:ext cx="3429000" cy="1219200"/>
          </a:xfrm>
          <a:prstGeom prst="roundRect">
            <a:avLst>
              <a:gd name="adj" fmla="val 14583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2200" y="2159000"/>
            <a:ext cx="2870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E0E3A"/>
                </a:solidFill>
                <a:latin typeface="Ubuntu"/>
              </a:rPr>
              <a:t>Ortodontkiev.com.ua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1500" y="2159000"/>
            <a:ext cx="3429000" cy="1219200"/>
          </a:xfrm>
          <a:prstGeom prst="roundRect">
            <a:avLst>
              <a:gd name="adj" fmla="val 14583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0900" y="2159000"/>
            <a:ext cx="2870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E0E3A"/>
                </a:solidFill>
                <a:latin typeface="Ubuntu"/>
              </a:rPr>
              <a:t>Studix.eu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0200" y="2159000"/>
            <a:ext cx="3429000" cy="1219200"/>
          </a:xfrm>
          <a:prstGeom prst="roundRect">
            <a:avLst>
              <a:gd name="adj" fmla="val 14583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59000"/>
            <a:ext cx="2870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E0E3A"/>
                </a:solidFill>
                <a:latin typeface="Ubuntu"/>
              </a:rPr>
              <a:t>The Tea (thetea.ua)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800" y="3556000"/>
            <a:ext cx="3429000" cy="1219200"/>
          </a:xfrm>
          <a:prstGeom prst="roundRect">
            <a:avLst>
              <a:gd name="adj" fmla="val 14583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2200" y="3556000"/>
            <a:ext cx="2870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E0E3A"/>
                </a:solidFill>
                <a:latin typeface="Ubuntu"/>
              </a:rPr>
              <a:t>Стоматологія · Нью-Йорк, США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1500" y="3556000"/>
            <a:ext cx="3429000" cy="1219200"/>
          </a:xfrm>
          <a:prstGeom prst="roundRect">
            <a:avLst>
              <a:gd name="adj" fmla="val 14583"/>
            </a:avLst>
          </a:prstGeom>
          <a:solidFill>
            <a:srgbClr val="E6FA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0900" y="3556000"/>
            <a:ext cx="2870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 i="0">
                <a:solidFill>
                  <a:srgbClr val="0E0E3A"/>
                </a:solidFill>
                <a:latin typeface="Ubuntu"/>
              </a:rPr>
              <a:t>1000+ клієнтів у 30+ нішах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A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651000"/>
            <a:ext cx="965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0E0E3A"/>
                </a:solidFill>
                <a:latin typeface="Ubuntu"/>
              </a:rPr>
              <a:t>Готові запустити рекламу для </a:t>
            </a:r>
            <a:r>
              <a:rPr sz="3200" b="1" i="0">
                <a:solidFill>
                  <a:srgbClr val="2966FF"/>
                </a:solidFill>
                <a:latin typeface="Ubuntu"/>
              </a:rPr>
              <a:t>ortodontkiev.com.ua</a:t>
            </a:r>
            <a:r>
              <a:rPr sz="3200" b="1" i="0">
                <a:solidFill>
                  <a:srgbClr val="0E0E3A"/>
                </a:solidFill>
                <a:latin typeface="Ubuntu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946400"/>
            <a:ext cx="889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6E6E88"/>
                </a:solidFill>
                <a:latin typeface="Ubuntu"/>
              </a:rPr>
              <a:t>Погодимо стратегію та запустимо перші кампанії протягом 3–5 днів після старту.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810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966FF"/>
                </a:solidFill>
                <a:latin typeface="Ubuntu"/>
              </a:rPr>
              <a:t>КЕРІВНИК АГЕНЦІЇ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089400"/>
            <a:ext cx="533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E0E3A"/>
                </a:solidFill>
                <a:latin typeface="Ubuntu"/>
              </a:rPr>
              <a:t>Катерина Золотарьова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775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966FF"/>
                </a:solidFill>
                <a:latin typeface="Ubuntu"/>
              </a:rPr>
              <a:t>ТЕЛЕФОН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054600"/>
            <a:ext cx="533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0E0E3A"/>
                </a:solidFill>
                <a:latin typeface="Ubuntu"/>
              </a:rPr>
              <a:t>+38 (098) 738 77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4775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966FF"/>
                </a:solidFill>
                <a:latin typeface="Ubuntu"/>
              </a:rPr>
              <a:t>САЙТ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0" y="5054600"/>
            <a:ext cx="5334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966FF"/>
                </a:solidFill>
                <a:latin typeface="Ubuntu"/>
              </a:rPr>
              <a:t>site24.com.ua</a:t>
            </a:r>
          </a:p>
        </p:txBody>
      </p:sp>
      <p:sp>
        <p:nvSpPr>
          <p:cNvPr id="10" name="Rounded Rectangle 9">
            <a:hlinkClick r:id="rId2"/>
          </p:cNvPr>
          <p:cNvSpPr/>
          <p:nvPr/>
        </p:nvSpPr>
        <p:spPr>
          <a:xfrm>
            <a:off x="6350000" y="3810000"/>
            <a:ext cx="3810000" cy="660400"/>
          </a:xfrm>
          <a:prstGeom prst="roundRect">
            <a:avLst>
              <a:gd name="adj" fmla="val 23076"/>
            </a:avLst>
          </a:prstGeom>
          <a:solidFill>
            <a:srgbClr val="36EF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0000" y="3810000"/>
            <a:ext cx="34036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0E0E3A"/>
                </a:solidFill>
                <a:latin typeface="Ubuntu"/>
                <a:hlinkClick r:id="rId2"/>
              </a:rPr>
              <a:t>Замовити консультацію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0" y="4013200"/>
            <a:ext cx="330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E3A"/>
                </a:solidFill>
                <a:latin typeface="Ubuntu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400800"/>
            <a:ext cx="635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site24.com.ua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0" y="6400800"/>
            <a:ext cx="17272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6E6E88"/>
                </a:solidFill>
                <a:latin typeface="Ubuntu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