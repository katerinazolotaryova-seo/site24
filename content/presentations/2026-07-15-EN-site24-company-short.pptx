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jp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ite24.com.ua/seo-prodvizhenie-internet-magazina-muzykalnyh-instrumentov/" TargetMode="External"/><Relationship Id="rId3" Type="http://schemas.openxmlformats.org/officeDocument/2006/relationships/hyperlink" Target="https://site24.com.ua/tag/kejsi/" TargetMode="External"/><Relationship Id="rId4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ite24.com.ua/ppc-dlya-e-commerce-zrostannya-dohodu-v-25-razi-za-odin-rik/" TargetMode="External"/><Relationship Id="rId3" Type="http://schemas.openxmlformats.org/officeDocument/2006/relationships/hyperlink" Target="https://site24.com.ua/tag/kejsi/" TargetMode="External"/><Relationship Id="rId4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t.me/katerinazolotaryova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AF8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te24-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736600"/>
            <a:ext cx="1804020" cy="4064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12800" y="2133600"/>
            <a:ext cx="1609344" cy="342900"/>
          </a:xfrm>
          <a:prstGeom prst="roundRect">
            <a:avLst>
              <a:gd name="adj" fmla="val 50000"/>
            </a:avLst>
          </a:prstGeom>
          <a:solidFill>
            <a:srgbClr val="29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2800" y="2133600"/>
            <a:ext cx="1609344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Ubuntu"/>
              </a:rPr>
              <a:t>ПРО КОМПАНІЮ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2616200"/>
            <a:ext cx="10414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600" b="1">
                <a:solidFill>
                  <a:srgbClr val="0E0E3A"/>
                </a:solidFill>
                <a:latin typeface="Ubuntu"/>
              </a:rPr>
              <a:t>Агенція </a:t>
            </a:r>
            <a:r>
              <a:rPr sz="4600" b="1">
                <a:solidFill>
                  <a:srgbClr val="2966FF"/>
                </a:solidFill>
                <a:latin typeface="Ubuntu"/>
              </a:rPr>
              <a:t>digital-маркетингу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4140200"/>
            <a:ext cx="9144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>
                <a:solidFill>
                  <a:srgbClr val="6E6E88"/>
                </a:solidFill>
                <a:latin typeface="Ubuntu"/>
              </a:rPr>
              <a:t>SEO та PPC просування, що приводить клієнтів з Google та AI</a:t>
            </a:r>
          </a:p>
        </p:txBody>
      </p:sp>
      <p:sp>
        <p:nvSpPr>
          <p:cNvPr id="7" name="Rectangle 6"/>
          <p:cNvSpPr/>
          <p:nvPr/>
        </p:nvSpPr>
        <p:spPr>
          <a:xfrm>
            <a:off x="812800" y="5054600"/>
            <a:ext cx="3810000" cy="50800"/>
          </a:xfrm>
          <a:prstGeom prst="rect">
            <a:avLst/>
          </a:prstGeom>
          <a:solidFill>
            <a:srgbClr val="36E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2800" y="6400800"/>
            <a:ext cx="584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6E6E88"/>
                </a:solidFill>
                <a:latin typeface="Ubuntu"/>
              </a:rPr>
              <a:t>site24.com.ua</a:t>
            </a:r>
            <a:r>
              <a:rPr sz="1300" b="0">
                <a:solidFill>
                  <a:srgbClr val="CED2DE"/>
                </a:solidFill>
                <a:latin typeface="Ubuntu"/>
              </a:rPr>
              <a:t>      ·      </a:t>
            </a:r>
            <a:r>
              <a:rPr sz="1300" b="1">
                <a:solidFill>
                  <a:srgbClr val="6E6E88"/>
                </a:solidFill>
                <a:latin typeface="Ubuntu"/>
              </a:rPr>
              <a:t>+38 (098) 738 77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00800"/>
            <a:ext cx="2286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>
                <a:solidFill>
                  <a:srgbClr val="6E6E88"/>
                </a:solidFill>
                <a:latin typeface="Ubuntu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685800"/>
            <a:ext cx="10414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0E0E3A"/>
                </a:solidFill>
                <a:latin typeface="Ubuntu"/>
              </a:rPr>
              <a:t>Хто </a:t>
            </a:r>
            <a:r>
              <a:rPr sz="3000" b="1">
                <a:solidFill>
                  <a:srgbClr val="2966FF"/>
                </a:solidFill>
                <a:latin typeface="Ubuntu"/>
              </a:rPr>
              <a:t>ми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498600"/>
            <a:ext cx="10566400" cy="1066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0E0E3A"/>
                </a:solidFill>
                <a:latin typeface="Ubuntu"/>
              </a:rPr>
              <a:t>Site24 — агенція digital-маркетингу, що спеціалізується на просуванні сайтів у Google через SEO та PPC. Працюємо як </a:t>
            </a:r>
            <a:r>
              <a:rPr sz="1700" b="1">
                <a:solidFill>
                  <a:srgbClr val="0E0E3A"/>
                </a:solidFill>
                <a:latin typeface="Ubuntu"/>
              </a:rPr>
              <a:t>партнер</a:t>
            </a:r>
            <a:r>
              <a:rPr sz="1700" b="0">
                <a:solidFill>
                  <a:srgbClr val="0E0E3A"/>
                </a:solidFill>
                <a:latin typeface="Ubuntu"/>
              </a:rPr>
              <a:t>, який допомагає малому та середньому бізнесу залучати клієнтів із пошуку — без зайвих технічних клопотів.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2997200"/>
            <a:ext cx="2540000" cy="1905000"/>
          </a:xfrm>
          <a:prstGeom prst="roundRect">
            <a:avLst>
              <a:gd name="adj" fmla="val 12000"/>
            </a:avLst>
          </a:prstGeom>
          <a:solidFill>
            <a:srgbClr val="DA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2200" y="3327400"/>
            <a:ext cx="177800" cy="177800"/>
          </a:xfrm>
          <a:prstGeom prst="rect">
            <a:avLst/>
          </a:prstGeom>
          <a:solidFill>
            <a:srgbClr val="36E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2200" y="3581400"/>
            <a:ext cx="2032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2966FF"/>
                </a:solidFill>
                <a:latin typeface="Ubuntu"/>
              </a:rPr>
              <a:t>1000+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200" y="4267200"/>
            <a:ext cx="20828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6E6E88"/>
                </a:solidFill>
                <a:latin typeface="Ubuntu"/>
              </a:rPr>
              <a:t>сайтів вивели в топ Google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92500" y="2997200"/>
            <a:ext cx="2540000" cy="1905000"/>
          </a:xfrm>
          <a:prstGeom prst="roundRect">
            <a:avLst>
              <a:gd name="adj" fmla="val 12000"/>
            </a:avLst>
          </a:prstGeom>
          <a:solidFill>
            <a:srgbClr val="DA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771900" y="3327400"/>
            <a:ext cx="177800" cy="177800"/>
          </a:xfrm>
          <a:prstGeom prst="rect">
            <a:avLst/>
          </a:prstGeom>
          <a:solidFill>
            <a:srgbClr val="36E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71900" y="3581400"/>
            <a:ext cx="2032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2966FF"/>
                </a:solidFill>
                <a:latin typeface="Ubuntu"/>
              </a:rPr>
              <a:t>550+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71900" y="4267200"/>
            <a:ext cx="20828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6E6E88"/>
                </a:solidFill>
                <a:latin typeface="Ubuntu"/>
              </a:rPr>
              <a:t>прибуткових рекламних кампаній запущено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997200"/>
            <a:ext cx="2540000" cy="1905000"/>
          </a:xfrm>
          <a:prstGeom prst="roundRect">
            <a:avLst>
              <a:gd name="adj" fmla="val 12000"/>
            </a:avLst>
          </a:prstGeom>
          <a:solidFill>
            <a:srgbClr val="DA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51600" y="3327400"/>
            <a:ext cx="177800" cy="177800"/>
          </a:xfrm>
          <a:prstGeom prst="rect">
            <a:avLst/>
          </a:prstGeom>
          <a:solidFill>
            <a:srgbClr val="36E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51600" y="3581400"/>
            <a:ext cx="2032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2966FF"/>
                </a:solidFill>
                <a:latin typeface="Ubuntu"/>
              </a:rPr>
              <a:t>86%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1600" y="4267200"/>
            <a:ext cx="20828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6E6E88"/>
                </a:solidFill>
                <a:latin typeface="Ubuntu"/>
              </a:rPr>
              <a:t>клієнтів приходять до нас за рекомендацією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51900" y="2997200"/>
            <a:ext cx="2540000" cy="1905000"/>
          </a:xfrm>
          <a:prstGeom prst="roundRect">
            <a:avLst>
              <a:gd name="adj" fmla="val 12000"/>
            </a:avLst>
          </a:prstGeom>
          <a:solidFill>
            <a:srgbClr val="DA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31300" y="3327400"/>
            <a:ext cx="177800" cy="177800"/>
          </a:xfrm>
          <a:prstGeom prst="rect">
            <a:avLst/>
          </a:prstGeom>
          <a:solidFill>
            <a:srgbClr val="36E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31300" y="3581400"/>
            <a:ext cx="2032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2966FF"/>
                </a:solidFill>
                <a:latin typeface="Ubuntu"/>
              </a:rPr>
              <a:t>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31300" y="4267200"/>
            <a:ext cx="20828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>
                <a:solidFill>
                  <a:srgbClr val="6E6E88"/>
                </a:solidFill>
                <a:latin typeface="Ubuntu"/>
              </a:rPr>
              <a:t>років успіху на ринку просування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" y="6400800"/>
            <a:ext cx="1778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E6E88"/>
                </a:solidFill>
                <a:latin typeface="Ubuntu"/>
              </a:rPr>
              <a:t>02</a:t>
            </a:r>
          </a:p>
        </p:txBody>
      </p:sp>
      <p:pic>
        <p:nvPicPr>
          <p:cNvPr id="21" name="Picture 20" descr="site24-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2487" y="6413500"/>
            <a:ext cx="1127512" cy="254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635000"/>
            <a:ext cx="10922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0E0E3A"/>
                </a:solidFill>
                <a:latin typeface="Ubuntu"/>
              </a:rPr>
              <a:t>Конкурентні </a:t>
            </a:r>
            <a:r>
              <a:rPr sz="3000" b="1">
                <a:solidFill>
                  <a:srgbClr val="2966FF"/>
                </a:solidFill>
                <a:latin typeface="Ubuntu"/>
              </a:rPr>
              <a:t>переваги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2800" y="1524000"/>
            <a:ext cx="3429000" cy="3200400"/>
          </a:xfrm>
          <a:prstGeom prst="roundRect">
            <a:avLst>
              <a:gd name="adj" fmla="val 7142"/>
            </a:avLst>
          </a:prstGeom>
          <a:solidFill>
            <a:srgbClr val="E6F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66800" y="1803400"/>
            <a:ext cx="482600" cy="50800"/>
          </a:xfrm>
          <a:prstGeom prst="rect">
            <a:avLst/>
          </a:prstGeom>
          <a:solidFill>
            <a:srgbClr val="29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6800" y="2057400"/>
            <a:ext cx="2946400" cy="66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0E0E3A"/>
                </a:solidFill>
                <a:latin typeface="Ubuntu"/>
              </a:rPr>
              <a:t>Партнер, а не підрядник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6800" y="2844800"/>
            <a:ext cx="2946400" cy="170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6E6E88"/>
                </a:solidFill>
                <a:latin typeface="Ubuntu"/>
              </a:rPr>
              <a:t>Не просто виконуємо ТЗ, а самі пропонуємо покращення й беремо на себе повний цикл просування: лінкбілдинг, крауд-маркетинг, UX, роботу з розробниками та аналітику. Готові «підставити плече» на кожному етапі й вести проєкт як власний.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1500" y="1524000"/>
            <a:ext cx="3429000" cy="3200400"/>
          </a:xfrm>
          <a:prstGeom prst="roundRect">
            <a:avLst>
              <a:gd name="adj" fmla="val 7142"/>
            </a:avLst>
          </a:prstGeom>
          <a:solidFill>
            <a:srgbClr val="E6F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635500" y="1803400"/>
            <a:ext cx="482600" cy="50800"/>
          </a:xfrm>
          <a:prstGeom prst="rect">
            <a:avLst/>
          </a:prstGeom>
          <a:solidFill>
            <a:srgbClr val="29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5500" y="2057400"/>
            <a:ext cx="2946400" cy="66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0E0E3A"/>
                </a:solidFill>
                <a:latin typeface="Ubuntu"/>
              </a:rPr>
              <a:t>Орієнтація на ROI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5500" y="2844800"/>
            <a:ext cx="2946400" cy="170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6E6E88"/>
                </a:solidFill>
                <a:latin typeface="Ubuntu"/>
              </a:rPr>
              <a:t>Будуємо стратегію так, щоб SEO та PPC приносили максимальну окупність — не просто позиції в топі, а більше клієнтів і прибутку. Перші результати клієнт бачить уже за 2–3 місяці, і вони працюють у довгостроковій перспективі.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0200" y="1524000"/>
            <a:ext cx="3429000" cy="3200400"/>
          </a:xfrm>
          <a:prstGeom prst="roundRect">
            <a:avLst>
              <a:gd name="adj" fmla="val 7142"/>
            </a:avLst>
          </a:prstGeom>
          <a:solidFill>
            <a:srgbClr val="E6F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04200" y="1803400"/>
            <a:ext cx="482600" cy="50800"/>
          </a:xfrm>
          <a:prstGeom prst="rect">
            <a:avLst/>
          </a:prstGeom>
          <a:solidFill>
            <a:srgbClr val="29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4200" y="2057400"/>
            <a:ext cx="2946400" cy="66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0E0E3A"/>
                </a:solidFill>
                <a:latin typeface="Ubuntu"/>
              </a:rPr>
              <a:t>Прозорість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4200" y="2844800"/>
            <a:ext cx="2946400" cy="170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6E6E88"/>
                </a:solidFill>
                <a:latin typeface="Ubuntu"/>
              </a:rPr>
              <a:t>Клієнт завжди знає, що ми робимо, за що платить і які результати отримуємо. Регулярна звітність зрозумілою мовою бізнесу — конкретні цифри та вигоди, без складних технічних термінів.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6400800"/>
            <a:ext cx="1778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E6E88"/>
                </a:solidFill>
                <a:latin typeface="Ubuntu"/>
              </a:rPr>
              <a:t>03</a:t>
            </a:r>
          </a:p>
        </p:txBody>
      </p:sp>
      <p:pic>
        <p:nvPicPr>
          <p:cNvPr id="16" name="Picture 15" descr="site24-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2487" y="6413500"/>
            <a:ext cx="1127512" cy="254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635000"/>
            <a:ext cx="11303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0E0E3A"/>
                </a:solidFill>
                <a:latin typeface="Ubuntu"/>
              </a:rPr>
              <a:t>Чому клієнтський сервіс </a:t>
            </a:r>
            <a:r>
              <a:rPr sz="2700" b="1">
                <a:solidFill>
                  <a:srgbClr val="2966FF"/>
                </a:solidFill>
                <a:latin typeface="Ubuntu"/>
              </a:rPr>
              <a:t>Site24</a:t>
            </a:r>
            <a:r>
              <a:rPr sz="2700" b="1">
                <a:solidFill>
                  <a:srgbClr val="0E0E3A"/>
                </a:solidFill>
                <a:latin typeface="Ubuntu"/>
              </a:rPr>
              <a:t> найкращий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2800" y="1473200"/>
            <a:ext cx="3429000" cy="2946400"/>
          </a:xfrm>
          <a:prstGeom prst="roundRect">
            <a:avLst>
              <a:gd name="adj" fmla="val 7758"/>
            </a:avLst>
          </a:prstGeom>
          <a:solidFill>
            <a:srgbClr val="E6F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66800" y="1752600"/>
            <a:ext cx="482600" cy="50800"/>
          </a:xfrm>
          <a:prstGeom prst="rect">
            <a:avLst/>
          </a:prstGeom>
          <a:solidFill>
            <a:srgbClr val="29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6800" y="1981200"/>
            <a:ext cx="29464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0E0E3A"/>
                </a:solidFill>
                <a:latin typeface="Ubuntu"/>
              </a:rPr>
              <a:t>Постійний контакт з менеджером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6800" y="2692400"/>
            <a:ext cx="2946400" cy="154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>
                <a:solidFill>
                  <a:srgbClr val="6E6E88"/>
                </a:solidFill>
                <a:latin typeface="Ubuntu"/>
              </a:rPr>
              <a:t>Ваш персональний project-менеджер завжди на зв'язку, володіє всією актуальною інформацією та оперативно відповідає на запити. </a:t>
            </a:r>
            <a:r>
              <a:rPr sz="1250" b="1">
                <a:solidFill>
                  <a:srgbClr val="2966FF"/>
                </a:solidFill>
                <a:latin typeface="Ubuntu"/>
              </a:rPr>
              <a:t>90% звернень вирішуються в день надходження.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1500" y="1473200"/>
            <a:ext cx="3429000" cy="2946400"/>
          </a:xfrm>
          <a:prstGeom prst="roundRect">
            <a:avLst>
              <a:gd name="adj" fmla="val 7758"/>
            </a:avLst>
          </a:prstGeom>
          <a:solidFill>
            <a:srgbClr val="E6F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635500" y="1752600"/>
            <a:ext cx="482600" cy="50800"/>
          </a:xfrm>
          <a:prstGeom prst="rect">
            <a:avLst/>
          </a:prstGeom>
          <a:solidFill>
            <a:srgbClr val="29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5500" y="1981200"/>
            <a:ext cx="29464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0E0E3A"/>
                </a:solidFill>
                <a:latin typeface="Ubuntu"/>
              </a:rPr>
              <a:t>Прозоре спілкування без «води»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5500" y="2692400"/>
            <a:ext cx="2946400" cy="154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>
                <a:solidFill>
                  <a:srgbClr val="6E6E88"/>
                </a:solidFill>
                <a:latin typeface="Ubuntu"/>
              </a:rPr>
              <a:t>Пояснюємо складні речі простою мовою, без технічного жаргону. Ви завжди розумієте, що і навіщо ми робимо у вашій рекламній кампанії.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0200" y="1473200"/>
            <a:ext cx="3429000" cy="2946400"/>
          </a:xfrm>
          <a:prstGeom prst="roundRect">
            <a:avLst>
              <a:gd name="adj" fmla="val 7758"/>
            </a:avLst>
          </a:prstGeom>
          <a:solidFill>
            <a:srgbClr val="E6F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04200" y="1752600"/>
            <a:ext cx="482600" cy="50800"/>
          </a:xfrm>
          <a:prstGeom prst="rect">
            <a:avLst/>
          </a:prstGeom>
          <a:solidFill>
            <a:srgbClr val="29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4200" y="1981200"/>
            <a:ext cx="29464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0E0E3A"/>
                </a:solidFill>
                <a:latin typeface="Ubuntu"/>
              </a:rPr>
              <a:t>Відкритість у бюджетах та звітах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4200" y="2692400"/>
            <a:ext cx="2946400" cy="154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>
                <a:solidFill>
                  <a:srgbClr val="6E6E88"/>
                </a:solidFill>
                <a:latin typeface="Ubuntu"/>
              </a:rPr>
              <a:t>Працюємо з відкритими бюджетами: ви чітко бачите, скільки йде на рекламу, а скільки — на нашу роботу. Усі дії задокументовані та прозорі.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800" y="4724400"/>
            <a:ext cx="10566400" cy="635000"/>
          </a:xfrm>
          <a:prstGeom prst="roundRect">
            <a:avLst>
              <a:gd name="adj" fmla="val 28000"/>
            </a:avLst>
          </a:prstGeom>
          <a:solidFill>
            <a:srgbClr val="29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800" y="4724400"/>
            <a:ext cx="10566400" cy="63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700" b="0">
                <a:solidFill>
                  <a:srgbClr val="FFFFFF"/>
                </a:solidFill>
                <a:latin typeface="Ubuntu"/>
              </a:rPr>
              <a:t>Ваш успіх — </a:t>
            </a:r>
            <a:r>
              <a:rPr sz="1700" b="0">
                <a:solidFill>
                  <a:srgbClr val="94FCB1"/>
                </a:solidFill>
                <a:latin typeface="Ubuntu"/>
              </a:rPr>
              <a:t>наша репутація.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6400800"/>
            <a:ext cx="1778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E6E88"/>
                </a:solidFill>
                <a:latin typeface="Ubuntu"/>
              </a:rPr>
              <a:t>04</a:t>
            </a:r>
          </a:p>
        </p:txBody>
      </p:sp>
      <p:pic>
        <p:nvPicPr>
          <p:cNvPr id="18" name="Picture 17" descr="site24-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2487" y="6413500"/>
            <a:ext cx="1127512" cy="254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685800"/>
            <a:ext cx="10922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2966FF"/>
                </a:solidFill>
                <a:latin typeface="Ubuntu"/>
              </a:rPr>
              <a:t>Сертифікати</a:t>
            </a:r>
            <a:r>
              <a:rPr sz="3000" b="1">
                <a:solidFill>
                  <a:srgbClr val="0E0E3A"/>
                </a:solidFill>
                <a:latin typeface="Ubuntu"/>
              </a:rPr>
              <a:t> та статуси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473200"/>
            <a:ext cx="10566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6E6E88"/>
                </a:solidFill>
                <a:latin typeface="Ubuntu"/>
              </a:rPr>
              <a:t>Підтверджена експертиза й офіційні партнерські статуси провідних платформ.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2235200"/>
            <a:ext cx="3429000" cy="26670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800" y="2235200"/>
            <a:ext cx="3429000" cy="76200"/>
          </a:xfrm>
          <a:prstGeom prst="rect">
            <a:avLst/>
          </a:prstGeom>
          <a:solidFill>
            <a:srgbClr val="29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17600" y="2590800"/>
            <a:ext cx="2819400" cy="1066800"/>
          </a:xfrm>
          <a:prstGeom prst="roundRect">
            <a:avLst>
              <a:gd name="adj" fmla="val 14285"/>
            </a:avLst>
          </a:prstGeom>
          <a:solidFill>
            <a:srgbClr val="DA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google-part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800" y="2816811"/>
            <a:ext cx="2413000" cy="61477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17600" y="3860800"/>
            <a:ext cx="2819400" cy="81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>
                <a:solidFill>
                  <a:srgbClr val="6E6E88"/>
                </a:solidFill>
                <a:latin typeface="Ubuntu"/>
              </a:rPr>
              <a:t>Офіційний партнерський статус Google Ads — доступ до бета-функцій, навчання та підтримки платформи.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1500" y="2235200"/>
            <a:ext cx="3429000" cy="26670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1500" y="2235200"/>
            <a:ext cx="3429000" cy="76200"/>
          </a:xfrm>
          <a:prstGeom prst="rect">
            <a:avLst/>
          </a:prstGeom>
          <a:solidFill>
            <a:srgbClr val="29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86300" y="2590800"/>
            <a:ext cx="2819400" cy="1066800"/>
          </a:xfrm>
          <a:prstGeom prst="roundRect">
            <a:avLst>
              <a:gd name="adj" fmla="val 14285"/>
            </a:avLst>
          </a:prstGeom>
          <a:solidFill>
            <a:srgbClr val="DA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lutc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9500" y="2778309"/>
            <a:ext cx="2413000" cy="69178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686300" y="3860800"/>
            <a:ext cx="2819400" cy="81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>
                <a:solidFill>
                  <a:srgbClr val="6E6E88"/>
                </a:solidFill>
                <a:latin typeface="Ubuntu"/>
              </a:rPr>
              <a:t>Верифікований профіль із реальними відгуками клієнтів на міжнародному рейтингу агенцій.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0200" y="2235200"/>
            <a:ext cx="3429000" cy="26670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0200" y="2235200"/>
            <a:ext cx="3429000" cy="76200"/>
          </a:xfrm>
          <a:prstGeom prst="rect">
            <a:avLst/>
          </a:prstGeom>
          <a:solidFill>
            <a:srgbClr val="29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55000" y="2590800"/>
            <a:ext cx="2819400" cy="1066800"/>
          </a:xfrm>
          <a:prstGeom prst="roundRect">
            <a:avLst>
              <a:gd name="adj" fmla="val 14285"/>
            </a:avLst>
          </a:prstGeom>
          <a:solidFill>
            <a:srgbClr val="DA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horosh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2330" y="2768600"/>
            <a:ext cx="984738" cy="711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255000" y="3860800"/>
            <a:ext cx="2819400" cy="81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>
                <a:solidFill>
                  <a:srgbClr val="6E6E88"/>
                </a:solidFill>
                <a:latin typeface="Ubuntu"/>
              </a:rPr>
              <a:t>Сертифікований підрядник для e-commerce на одній із провідних платформ України.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6400800"/>
            <a:ext cx="1778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E6E88"/>
                </a:solidFill>
                <a:latin typeface="Ubuntu"/>
              </a:rPr>
              <a:t>05</a:t>
            </a:r>
          </a:p>
        </p:txBody>
      </p:sp>
      <p:pic>
        <p:nvPicPr>
          <p:cNvPr id="20" name="Picture 19" descr="site24-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02487" y="6413500"/>
            <a:ext cx="1127512" cy="254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635000"/>
            <a:ext cx="10922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0E0E3A"/>
                </a:solidFill>
                <a:latin typeface="Ubuntu"/>
              </a:rPr>
              <a:t>Послуги </a:t>
            </a:r>
            <a:r>
              <a:rPr sz="3000" b="1">
                <a:solidFill>
                  <a:srgbClr val="2966FF"/>
                </a:solidFill>
                <a:latin typeface="Ubuntu"/>
              </a:rPr>
              <a:t>та технології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2800" y="1397000"/>
            <a:ext cx="10566400" cy="711200"/>
          </a:xfrm>
          <a:prstGeom prst="roundRect">
            <a:avLst>
              <a:gd name="adj" fmla="val 21428"/>
            </a:avLst>
          </a:prstGeom>
          <a:solidFill>
            <a:srgbClr val="E6F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6800" y="1397000"/>
            <a:ext cx="431800" cy="71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966FF"/>
                </a:solidFill>
                <a:latin typeface="Ubuntu"/>
              </a:rPr>
              <a:t>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73200" y="1397000"/>
            <a:ext cx="3810000" cy="71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50" b="1">
                <a:solidFill>
                  <a:srgbClr val="0E0E3A"/>
                </a:solidFill>
                <a:latin typeface="Ubuntu"/>
              </a:rPr>
              <a:t>SEO-просування сайтів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84800" y="1397000"/>
            <a:ext cx="5740400" cy="71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6E6E88"/>
                </a:solidFill>
                <a:latin typeface="Ubuntu"/>
              </a:rPr>
              <a:t>Комплексне виведення сайту в топ Google за комерційними запитами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2800" y="2222500"/>
            <a:ext cx="10566400" cy="711200"/>
          </a:xfrm>
          <a:prstGeom prst="roundRect">
            <a:avLst>
              <a:gd name="adj" fmla="val 21428"/>
            </a:avLst>
          </a:prstGeom>
          <a:solidFill>
            <a:srgbClr val="E6F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6800" y="2222500"/>
            <a:ext cx="431800" cy="71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966FF"/>
                </a:solidFill>
                <a:latin typeface="Ubuntu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73200" y="2222500"/>
            <a:ext cx="3810000" cy="71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50" b="1">
                <a:solidFill>
                  <a:srgbClr val="0E0E3A"/>
                </a:solidFill>
                <a:latin typeface="Ubuntu"/>
              </a:rPr>
              <a:t>PPC / контекстна реклама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84800" y="2222500"/>
            <a:ext cx="5740400" cy="71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6E6E88"/>
                </a:solidFill>
                <a:latin typeface="Ubuntu"/>
              </a:rPr>
              <a:t>Google Ads під ROI: пошук, банери, ремаркетинг, Shopping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800" y="3048000"/>
            <a:ext cx="10566400" cy="711200"/>
          </a:xfrm>
          <a:prstGeom prst="roundRect">
            <a:avLst>
              <a:gd name="adj" fmla="val 21428"/>
            </a:avLst>
          </a:prstGeom>
          <a:solidFill>
            <a:srgbClr val="E6F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6800" y="3048000"/>
            <a:ext cx="431800" cy="71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966FF"/>
                </a:solidFill>
                <a:latin typeface="Ubuntu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73200" y="3048000"/>
            <a:ext cx="3810000" cy="71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50" b="1">
                <a:solidFill>
                  <a:srgbClr val="0E0E3A"/>
                </a:solidFill>
                <a:latin typeface="Ubuntu"/>
              </a:rPr>
              <a:t>Просування в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84800" y="3048000"/>
            <a:ext cx="5740400" cy="71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6E6E88"/>
                </a:solidFill>
                <a:latin typeface="Ubuntu"/>
              </a:rPr>
              <a:t>Видимість у ChatGPT та AI Overview (AEO) — новий канал трафіку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800" y="3873500"/>
            <a:ext cx="10566400" cy="711200"/>
          </a:xfrm>
          <a:prstGeom prst="roundRect">
            <a:avLst>
              <a:gd name="adj" fmla="val 21428"/>
            </a:avLst>
          </a:prstGeom>
          <a:solidFill>
            <a:srgbClr val="E6F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6800" y="3873500"/>
            <a:ext cx="431800" cy="71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966FF"/>
                </a:solidFill>
                <a:latin typeface="Ubuntu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73200" y="3873500"/>
            <a:ext cx="3810000" cy="71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50" b="1">
                <a:solidFill>
                  <a:srgbClr val="0E0E3A"/>
                </a:solidFill>
                <a:latin typeface="Ubuntu"/>
              </a:rPr>
              <a:t>SERM — репутація в пошуку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84800" y="3873500"/>
            <a:ext cx="5740400" cy="71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6E6E88"/>
                </a:solidFill>
                <a:latin typeface="Ubuntu"/>
              </a:rPr>
              <a:t>Керування тим, що бачить клієнт про бренд у видачі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2800" y="4699000"/>
            <a:ext cx="10566400" cy="711200"/>
          </a:xfrm>
          <a:prstGeom prst="roundRect">
            <a:avLst>
              <a:gd name="adj" fmla="val 21428"/>
            </a:avLst>
          </a:prstGeom>
          <a:solidFill>
            <a:srgbClr val="E6F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6800" y="4699000"/>
            <a:ext cx="431800" cy="71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966FF"/>
                </a:solidFill>
                <a:latin typeface="Ubuntu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73200" y="4699000"/>
            <a:ext cx="3810000" cy="71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50" b="1">
                <a:solidFill>
                  <a:srgbClr val="0E0E3A"/>
                </a:solidFill>
                <a:latin typeface="Ubuntu"/>
              </a:rPr>
              <a:t>Просування закордонних сайтів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84800" y="4699000"/>
            <a:ext cx="5740400" cy="71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6E6E88"/>
                </a:solidFill>
                <a:latin typeface="Ubuntu"/>
              </a:rPr>
              <a:t>SEO та PPC для інших країн, мов і ринків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2800" y="5562600"/>
            <a:ext cx="1778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966FF"/>
                </a:solidFill>
                <a:latin typeface="Ubuntu"/>
              </a:rPr>
              <a:t>Працюємо з: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84400" y="5562600"/>
            <a:ext cx="91948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6E6E88"/>
                </a:solidFill>
                <a:latin typeface="Ubuntu"/>
              </a:rPr>
              <a:t>Google Analytics 4  ·  Search Console  ·  Google Ads  ·  Ahrefs  ·  Serpstat  ·  Screaming Frog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2000" y="6400800"/>
            <a:ext cx="1778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E6E88"/>
                </a:solidFill>
                <a:latin typeface="Ubuntu"/>
              </a:rPr>
              <a:t>06</a:t>
            </a:r>
          </a:p>
        </p:txBody>
      </p:sp>
      <p:pic>
        <p:nvPicPr>
          <p:cNvPr id="26" name="Picture 25" descr="site24-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2487" y="6413500"/>
            <a:ext cx="1127512" cy="254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685800"/>
            <a:ext cx="11176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0E0E3A"/>
                </a:solidFill>
                <a:latin typeface="Ubuntu"/>
              </a:rPr>
              <a:t>Галузевий </a:t>
            </a:r>
            <a:r>
              <a:rPr sz="3000" b="1">
                <a:solidFill>
                  <a:srgbClr val="2966FF"/>
                </a:solidFill>
                <a:latin typeface="Ubuntu"/>
              </a:rPr>
              <a:t>досвід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473200"/>
            <a:ext cx="10566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6E6E88"/>
                </a:solidFill>
                <a:latin typeface="Ubuntu"/>
              </a:rPr>
              <a:t>Розуміємо специфіку різних ніш — від e-commerce до медицини — на ринку України та за кордоном.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2184400"/>
            <a:ext cx="3429000" cy="939800"/>
          </a:xfrm>
          <a:prstGeom prst="roundRect">
            <a:avLst>
              <a:gd name="adj" fmla="val 18918"/>
            </a:avLst>
          </a:prstGeom>
          <a:solidFill>
            <a:srgbClr val="DA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16000" y="2362200"/>
            <a:ext cx="584200" cy="5842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commer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300" y="2476500"/>
            <a:ext cx="355600" cy="355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03400" y="2184400"/>
            <a:ext cx="2260600" cy="939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E0E3A"/>
                </a:solidFill>
                <a:latin typeface="Ubuntu"/>
              </a:rPr>
              <a:t>E-commerce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1500" y="2184400"/>
            <a:ext cx="3429000" cy="939800"/>
          </a:xfrm>
          <a:prstGeom prst="roundRect">
            <a:avLst>
              <a:gd name="adj" fmla="val 18918"/>
            </a:avLst>
          </a:prstGeom>
          <a:solidFill>
            <a:srgbClr val="DA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84700" y="2362200"/>
            <a:ext cx="584200" cy="5842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edic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000" y="2476500"/>
            <a:ext cx="355600" cy="355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72100" y="2184400"/>
            <a:ext cx="2260600" cy="939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E0E3A"/>
                </a:solidFill>
                <a:latin typeface="Ubuntu"/>
              </a:rPr>
              <a:t>Медицина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0200" y="2184400"/>
            <a:ext cx="3429000" cy="939800"/>
          </a:xfrm>
          <a:prstGeom prst="roundRect">
            <a:avLst>
              <a:gd name="adj" fmla="val 18918"/>
            </a:avLst>
          </a:prstGeom>
          <a:solidFill>
            <a:srgbClr val="DA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53400" y="2362200"/>
            <a:ext cx="584200" cy="5842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manufactur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7700" y="2476500"/>
            <a:ext cx="355600" cy="355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940800" y="2184400"/>
            <a:ext cx="2260600" cy="939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E0E3A"/>
                </a:solidFill>
                <a:latin typeface="Ubuntu"/>
              </a:rPr>
              <a:t>Виробництво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800" y="3302000"/>
            <a:ext cx="3429000" cy="939800"/>
          </a:xfrm>
          <a:prstGeom prst="roundRect">
            <a:avLst>
              <a:gd name="adj" fmla="val 18918"/>
            </a:avLst>
          </a:prstGeom>
          <a:solidFill>
            <a:srgbClr val="DA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16000" y="3479800"/>
            <a:ext cx="584200" cy="5842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ervic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0300" y="3594100"/>
            <a:ext cx="355600" cy="3556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803400" y="3302000"/>
            <a:ext cx="2260600" cy="939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E0E3A"/>
                </a:solidFill>
                <a:latin typeface="Ubuntu"/>
              </a:rPr>
              <a:t>Сервісні бізнеси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1500" y="3302000"/>
            <a:ext cx="3429000" cy="939800"/>
          </a:xfrm>
          <a:prstGeom prst="roundRect">
            <a:avLst>
              <a:gd name="adj" fmla="val 18918"/>
            </a:avLst>
          </a:prstGeom>
          <a:solidFill>
            <a:srgbClr val="DA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84700" y="3479800"/>
            <a:ext cx="584200" cy="5842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realesta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9000" y="3594100"/>
            <a:ext cx="355600" cy="3556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372100" y="3302000"/>
            <a:ext cx="2260600" cy="939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E0E3A"/>
                </a:solidFill>
                <a:latin typeface="Ubuntu"/>
              </a:rPr>
              <a:t>Нерухомість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50200" y="3302000"/>
            <a:ext cx="3429000" cy="939800"/>
          </a:xfrm>
          <a:prstGeom prst="roundRect">
            <a:avLst>
              <a:gd name="adj" fmla="val 18918"/>
            </a:avLst>
          </a:prstGeom>
          <a:solidFill>
            <a:srgbClr val="DA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153400" y="3479800"/>
            <a:ext cx="584200" cy="584200"/>
          </a:xfrm>
          <a:prstGeom prst="roundRect">
            <a:avLst>
              <a:gd name="adj" fmla="val 2391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edtec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67700" y="3594100"/>
            <a:ext cx="355600" cy="3556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940800" y="3302000"/>
            <a:ext cx="2260600" cy="939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0E0E3A"/>
                </a:solidFill>
                <a:latin typeface="Ubuntu"/>
              </a:rPr>
              <a:t>IT та освіта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2800" y="5080000"/>
            <a:ext cx="10566400" cy="812800"/>
          </a:xfrm>
          <a:prstGeom prst="roundRect">
            <a:avLst>
              <a:gd name="adj" fmla="val 25000"/>
            </a:avLst>
          </a:prstGeom>
          <a:solidFill>
            <a:srgbClr val="29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68400" y="5080000"/>
            <a:ext cx="9855200" cy="81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FFFFFF"/>
                </a:solidFill>
                <a:latin typeface="Ubuntu"/>
              </a:rPr>
              <a:t>Локальний та міжнародний досвід — </a:t>
            </a:r>
            <a:r>
              <a:rPr sz="1500" b="0">
                <a:solidFill>
                  <a:srgbClr val="94FCB1"/>
                </a:solidFill>
                <a:latin typeface="Ubuntu"/>
              </a:rPr>
              <a:t>працюємо і з українськими, і з закордонними проєктами: різні країни, мови та ринки.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2000" y="6400800"/>
            <a:ext cx="1778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E6E88"/>
                </a:solidFill>
                <a:latin typeface="Ubuntu"/>
              </a:rPr>
              <a:t>07</a:t>
            </a:r>
          </a:p>
        </p:txBody>
      </p:sp>
      <p:pic>
        <p:nvPicPr>
          <p:cNvPr id="31" name="Picture 30" descr="site24-in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02487" y="6413500"/>
            <a:ext cx="1127512" cy="254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685800"/>
            <a:ext cx="10414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>
                <a:solidFill>
                  <a:srgbClr val="0E0E3A"/>
                </a:solidFill>
                <a:latin typeface="Ubuntu"/>
              </a:rPr>
              <a:t>Нам </a:t>
            </a:r>
            <a:r>
              <a:rPr sz="3000" b="1">
                <a:solidFill>
                  <a:srgbClr val="2966FF"/>
                </a:solidFill>
                <a:latin typeface="Ubuntu"/>
              </a:rPr>
              <a:t>довіряють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397000"/>
            <a:ext cx="105664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6E6E88"/>
                </a:solidFill>
                <a:latin typeface="Ubuntu"/>
              </a:rPr>
              <a:t>Понад 1000 бізнесів обрали Site24 для просування — від локальних магазинів до брендів національного рівня.</a:t>
            </a:r>
          </a:p>
        </p:txBody>
      </p:sp>
      <p:pic>
        <p:nvPicPr>
          <p:cNvPr id="4" name="Picture 3" descr="clients-logo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2006600"/>
            <a:ext cx="10566400" cy="332877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6400800"/>
            <a:ext cx="1778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E6E88"/>
                </a:solidFill>
                <a:latin typeface="Ubuntu"/>
              </a:rPr>
              <a:t>08</a:t>
            </a:r>
          </a:p>
        </p:txBody>
      </p:sp>
      <p:pic>
        <p:nvPicPr>
          <p:cNvPr id="6" name="Picture 5" descr="site24-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2487" y="6413500"/>
            <a:ext cx="1127512" cy="254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12800" y="635000"/>
            <a:ext cx="1199896" cy="342900"/>
          </a:xfrm>
          <a:prstGeom prst="roundRect">
            <a:avLst>
              <a:gd name="adj" fmla="val 50000"/>
            </a:avLst>
          </a:prstGeom>
          <a:solidFill>
            <a:srgbClr val="29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800" y="635000"/>
            <a:ext cx="1199896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Ubuntu"/>
              </a:rPr>
              <a:t>SEO-КЕЙС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1016000"/>
            <a:ext cx="105664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0E0E3A"/>
                </a:solidFill>
                <a:latin typeface="Ubuntu"/>
              </a:rPr>
              <a:t>Кейс: </a:t>
            </a:r>
            <a:r>
              <a:rPr sz="2700" b="1">
                <a:solidFill>
                  <a:srgbClr val="2966FF"/>
                </a:solidFill>
                <a:latin typeface="Ubuntu"/>
              </a:rPr>
              <a:t>музичний інтернет-магазин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1701800"/>
            <a:ext cx="105664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6E6E88"/>
                </a:solidFill>
                <a:latin typeface="Ubuntu"/>
              </a:rPr>
              <a:t>Спеціалізований онлайн-магазин гітар та музичних інструментів на платформі Horoshop.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2800" y="2133600"/>
            <a:ext cx="10566400" cy="787400"/>
          </a:xfrm>
          <a:prstGeom prst="roundRect">
            <a:avLst>
              <a:gd name="adj" fmla="val 22580"/>
            </a:avLst>
          </a:prstGeom>
          <a:solidFill>
            <a:srgbClr val="E6F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2200" y="2387600"/>
            <a:ext cx="50800" cy="279400"/>
          </a:xfrm>
          <a:prstGeom prst="rect">
            <a:avLst/>
          </a:prstGeom>
          <a:solidFill>
            <a:srgbClr val="29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0800" y="2133600"/>
            <a:ext cx="9804400" cy="787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1">
                <a:solidFill>
                  <a:srgbClr val="0E0E3A"/>
                </a:solidFill>
                <a:latin typeface="Ubuntu"/>
              </a:rPr>
              <a:t>Задача: </a:t>
            </a:r>
            <a:r>
              <a:rPr sz="1350" b="0">
                <a:solidFill>
                  <a:srgbClr val="6E6E88"/>
                </a:solidFill>
                <a:latin typeface="Ubuntu"/>
              </a:rPr>
              <a:t>вивести пріоритетні категорії гітар у ТОП-3 Google з мінімальним бюджетом на посилання — старт на початку повномасштабного вторгнення.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2800" y="3175000"/>
            <a:ext cx="2540000" cy="1905000"/>
          </a:xfrm>
          <a:prstGeom prst="roundRect">
            <a:avLst>
              <a:gd name="adj" fmla="val 12000"/>
            </a:avLst>
          </a:prstGeom>
          <a:solidFill>
            <a:srgbClr val="DA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2200" y="3479800"/>
            <a:ext cx="177800" cy="177800"/>
          </a:xfrm>
          <a:prstGeom prst="rect">
            <a:avLst/>
          </a:prstGeom>
          <a:solidFill>
            <a:srgbClr val="36E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2200" y="3733800"/>
            <a:ext cx="2032000" cy="66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2966FF"/>
                </a:solidFill>
                <a:latin typeface="Ubuntu"/>
              </a:rPr>
              <a:t>×24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2200" y="4419600"/>
            <a:ext cx="20828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6E6E88"/>
                </a:solidFill>
                <a:latin typeface="Ubuntu"/>
              </a:rPr>
              <a:t>зростання SEO-трафіку: 667 → 17 205 візитів/міс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92500" y="3175000"/>
            <a:ext cx="2540000" cy="1905000"/>
          </a:xfrm>
          <a:prstGeom prst="roundRect">
            <a:avLst>
              <a:gd name="adj" fmla="val 12000"/>
            </a:avLst>
          </a:prstGeom>
          <a:solidFill>
            <a:srgbClr val="DA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771900" y="3479800"/>
            <a:ext cx="177800" cy="177800"/>
          </a:xfrm>
          <a:prstGeom prst="rect">
            <a:avLst/>
          </a:prstGeom>
          <a:solidFill>
            <a:srgbClr val="36E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71900" y="3733800"/>
            <a:ext cx="2032000" cy="66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2966FF"/>
                </a:solidFill>
                <a:latin typeface="Ubuntu"/>
              </a:rPr>
              <a:t>1922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71900" y="4419600"/>
            <a:ext cx="20828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6E6E88"/>
                </a:solidFill>
                <a:latin typeface="Ubuntu"/>
              </a:rPr>
              <a:t>запити в ТОП-3 Google (48% ядра)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175000"/>
            <a:ext cx="2540000" cy="1905000"/>
          </a:xfrm>
          <a:prstGeom prst="roundRect">
            <a:avLst>
              <a:gd name="adj" fmla="val 12000"/>
            </a:avLst>
          </a:prstGeom>
          <a:solidFill>
            <a:srgbClr val="DA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51600" y="3479800"/>
            <a:ext cx="177800" cy="177800"/>
          </a:xfrm>
          <a:prstGeom prst="rect">
            <a:avLst/>
          </a:prstGeom>
          <a:solidFill>
            <a:srgbClr val="36E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51600" y="3733800"/>
            <a:ext cx="2032000" cy="66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2966FF"/>
                </a:solidFill>
                <a:latin typeface="Ubuntu"/>
              </a:rPr>
              <a:t>3705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1600" y="4419600"/>
            <a:ext cx="20828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6E6E88"/>
                </a:solidFill>
                <a:latin typeface="Ubuntu"/>
              </a:rPr>
              <a:t>запитів у ТОП-10 (92% ядра)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51900" y="3175000"/>
            <a:ext cx="2540000" cy="1905000"/>
          </a:xfrm>
          <a:prstGeom prst="roundRect">
            <a:avLst>
              <a:gd name="adj" fmla="val 12000"/>
            </a:avLst>
          </a:prstGeom>
          <a:solidFill>
            <a:srgbClr val="DA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31300" y="3479800"/>
            <a:ext cx="177800" cy="177800"/>
          </a:xfrm>
          <a:prstGeom prst="rect">
            <a:avLst/>
          </a:prstGeom>
          <a:solidFill>
            <a:srgbClr val="36E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31300" y="3733800"/>
            <a:ext cx="2032000" cy="66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2966FF"/>
                </a:solidFill>
                <a:latin typeface="Ubuntu"/>
              </a:rPr>
              <a:t>18 міс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31300" y="4419600"/>
            <a:ext cx="20828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6E6E88"/>
                </a:solidFill>
                <a:latin typeface="Ubuntu"/>
              </a:rPr>
              <a:t>тривалість проєкту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2800" y="5562600"/>
            <a:ext cx="4064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966FF"/>
                </a:solidFill>
                <a:latin typeface="Ubuntu"/>
                <a:hlinkClick r:id="rId2"/>
              </a:rPr>
              <a:t>Детальніше про кейс  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02400" y="5562600"/>
            <a:ext cx="4064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400" b="1">
                <a:solidFill>
                  <a:srgbClr val="6E6E88"/>
                </a:solidFill>
                <a:latin typeface="Ubuntu"/>
                <a:hlinkClick r:id="rId3"/>
              </a:rPr>
              <a:t>Читати всі кейси  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000" y="6400800"/>
            <a:ext cx="1778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E6E88"/>
                </a:solidFill>
                <a:latin typeface="Ubuntu"/>
              </a:rPr>
              <a:t>09</a:t>
            </a:r>
          </a:p>
        </p:txBody>
      </p:sp>
      <p:pic>
        <p:nvPicPr>
          <p:cNvPr id="28" name="Picture 27" descr="site24-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2487" y="6413500"/>
            <a:ext cx="1127512" cy="254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12800" y="635000"/>
            <a:ext cx="1199896" cy="342900"/>
          </a:xfrm>
          <a:prstGeom prst="roundRect">
            <a:avLst>
              <a:gd name="adj" fmla="val 50000"/>
            </a:avLst>
          </a:prstGeom>
          <a:solidFill>
            <a:srgbClr val="29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800" y="635000"/>
            <a:ext cx="1199896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Ubuntu"/>
              </a:rPr>
              <a:t>PPC-КЕЙС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1016000"/>
            <a:ext cx="105664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>
                <a:solidFill>
                  <a:srgbClr val="0E0E3A"/>
                </a:solidFill>
                <a:latin typeface="Ubuntu"/>
              </a:rPr>
              <a:t>Кейс: </a:t>
            </a:r>
            <a:r>
              <a:rPr sz="2700" b="1">
                <a:solidFill>
                  <a:srgbClr val="2966FF"/>
                </a:solidFill>
                <a:latin typeface="Ubuntu"/>
              </a:rPr>
              <a:t>e-commerce — дохід ×2,5 за рік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1701800"/>
            <a:ext cx="105664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6E6E88"/>
                </a:solidFill>
                <a:latin typeface="Ubuntu"/>
              </a:rPr>
              <a:t>The Tea (thetea.ua) — інтернет-магазин китайського чаю та аксесуарів для чайних церемоній.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2800" y="2133600"/>
            <a:ext cx="10566400" cy="787400"/>
          </a:xfrm>
          <a:prstGeom prst="roundRect">
            <a:avLst>
              <a:gd name="adj" fmla="val 22580"/>
            </a:avLst>
          </a:prstGeom>
          <a:solidFill>
            <a:srgbClr val="E6F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2200" y="2387600"/>
            <a:ext cx="50800" cy="279400"/>
          </a:xfrm>
          <a:prstGeom prst="rect">
            <a:avLst/>
          </a:prstGeom>
          <a:solidFill>
            <a:srgbClr val="29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0800" y="2133600"/>
            <a:ext cx="9804400" cy="787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1">
                <a:solidFill>
                  <a:srgbClr val="0E0E3A"/>
                </a:solidFill>
                <a:latin typeface="Ubuntu"/>
              </a:rPr>
              <a:t>Задача: </a:t>
            </a:r>
            <a:r>
              <a:rPr sz="1350" b="0">
                <a:solidFill>
                  <a:srgbClr val="6E6E88"/>
                </a:solidFill>
                <a:latin typeface="Ubuntu"/>
              </a:rPr>
              <a:t>масштабувати контекстну рекламу магазину чаю The Tea та збільшити кількість замовлень і дохід.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2800" y="3175000"/>
            <a:ext cx="2540000" cy="1905000"/>
          </a:xfrm>
          <a:prstGeom prst="roundRect">
            <a:avLst>
              <a:gd name="adj" fmla="val 12000"/>
            </a:avLst>
          </a:prstGeom>
          <a:solidFill>
            <a:srgbClr val="DA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2200" y="3479800"/>
            <a:ext cx="177800" cy="177800"/>
          </a:xfrm>
          <a:prstGeom prst="rect">
            <a:avLst/>
          </a:prstGeom>
          <a:solidFill>
            <a:srgbClr val="36E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2200" y="3733800"/>
            <a:ext cx="2032000" cy="66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2966FF"/>
                </a:solidFill>
                <a:latin typeface="Ubuntu"/>
              </a:rPr>
              <a:t>×2,5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2200" y="4419600"/>
            <a:ext cx="20828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6E6E88"/>
                </a:solidFill>
                <a:latin typeface="Ubuntu"/>
              </a:rPr>
              <a:t>зростання доходу за рік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92500" y="3175000"/>
            <a:ext cx="2540000" cy="1905000"/>
          </a:xfrm>
          <a:prstGeom prst="roundRect">
            <a:avLst>
              <a:gd name="adj" fmla="val 12000"/>
            </a:avLst>
          </a:prstGeom>
          <a:solidFill>
            <a:srgbClr val="DA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771900" y="3479800"/>
            <a:ext cx="177800" cy="177800"/>
          </a:xfrm>
          <a:prstGeom prst="rect">
            <a:avLst/>
          </a:prstGeom>
          <a:solidFill>
            <a:srgbClr val="36E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71900" y="3733800"/>
            <a:ext cx="2032000" cy="66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2966FF"/>
                </a:solidFill>
                <a:latin typeface="Ubuntu"/>
              </a:rPr>
              <a:t>×2,3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71900" y="4419600"/>
            <a:ext cx="20828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6E6E88"/>
                </a:solidFill>
                <a:latin typeface="Ubuntu"/>
              </a:rPr>
              <a:t>транзакції: 940 → 2143 /міс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175000"/>
            <a:ext cx="2540000" cy="1905000"/>
          </a:xfrm>
          <a:prstGeom prst="roundRect">
            <a:avLst>
              <a:gd name="adj" fmla="val 12000"/>
            </a:avLst>
          </a:prstGeom>
          <a:solidFill>
            <a:srgbClr val="DA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51600" y="3479800"/>
            <a:ext cx="177800" cy="177800"/>
          </a:xfrm>
          <a:prstGeom prst="rect">
            <a:avLst/>
          </a:prstGeom>
          <a:solidFill>
            <a:srgbClr val="36E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51600" y="3733800"/>
            <a:ext cx="2032000" cy="66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2966FF"/>
                </a:solidFill>
                <a:latin typeface="Ubuntu"/>
              </a:rPr>
              <a:t>+200%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1600" y="4419600"/>
            <a:ext cx="20828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6E6E88"/>
                </a:solidFill>
                <a:latin typeface="Ubuntu"/>
              </a:rPr>
              <a:t>ROAS: 333% → 523%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51900" y="3175000"/>
            <a:ext cx="2540000" cy="1905000"/>
          </a:xfrm>
          <a:prstGeom prst="roundRect">
            <a:avLst>
              <a:gd name="adj" fmla="val 12000"/>
            </a:avLst>
          </a:prstGeom>
          <a:solidFill>
            <a:srgbClr val="DA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31300" y="3479800"/>
            <a:ext cx="177800" cy="177800"/>
          </a:xfrm>
          <a:prstGeom prst="rect">
            <a:avLst/>
          </a:prstGeom>
          <a:solidFill>
            <a:srgbClr val="36E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31300" y="3733800"/>
            <a:ext cx="2032000" cy="66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2966FF"/>
                </a:solidFill>
                <a:latin typeface="Ubuntu"/>
              </a:rPr>
              <a:t>30+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31300" y="4419600"/>
            <a:ext cx="20828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>
                <a:solidFill>
                  <a:srgbClr val="6E6E88"/>
                </a:solidFill>
                <a:latin typeface="Ubuntu"/>
              </a:rPr>
              <a:t>нових Google Ads кампаній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2800" y="5562600"/>
            <a:ext cx="4064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966FF"/>
                </a:solidFill>
                <a:latin typeface="Ubuntu"/>
                <a:hlinkClick r:id="rId2"/>
              </a:rPr>
              <a:t>Детальніше про кейс  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02400" y="5562600"/>
            <a:ext cx="4064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400" b="1">
                <a:solidFill>
                  <a:srgbClr val="6E6E88"/>
                </a:solidFill>
                <a:latin typeface="Ubuntu"/>
                <a:hlinkClick r:id="rId3"/>
              </a:rPr>
              <a:t>Читати всі кейси  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000" y="6400800"/>
            <a:ext cx="1778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E6E88"/>
                </a:solidFill>
                <a:latin typeface="Ubuntu"/>
              </a:rPr>
              <a:t>10</a:t>
            </a:r>
          </a:p>
        </p:txBody>
      </p:sp>
      <p:pic>
        <p:nvPicPr>
          <p:cNvPr id="28" name="Picture 27" descr="site24-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2487" y="6413500"/>
            <a:ext cx="1127512" cy="254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AF8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te24-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736600"/>
            <a:ext cx="1691268" cy="381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1905000"/>
            <a:ext cx="965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800" b="1">
                <a:solidFill>
                  <a:srgbClr val="0E0E3A"/>
                </a:solidFill>
                <a:latin typeface="Ubuntu"/>
              </a:rPr>
              <a:t>Обговоримо </a:t>
            </a:r>
            <a:r>
              <a:rPr sz="3800" b="1">
                <a:solidFill>
                  <a:srgbClr val="2966FF"/>
                </a:solidFill>
                <a:latin typeface="Ubuntu"/>
              </a:rPr>
              <a:t>ваш проєкт</a:t>
            </a:r>
            <a:r>
              <a:rPr sz="3800" b="1">
                <a:solidFill>
                  <a:srgbClr val="0E0E3A"/>
                </a:solidFill>
                <a:latin typeface="Ubuntu"/>
              </a:rPr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2819400"/>
            <a:ext cx="889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6E6E88"/>
                </a:solidFill>
                <a:latin typeface="Ubuntu"/>
              </a:rPr>
              <a:t>Проведемо безкоштовну консультацію та покажемо точки зростання для вашого сайту.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375920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2966FF"/>
                </a:solidFill>
                <a:latin typeface="Ubuntu"/>
              </a:rPr>
              <a:t>КЕРІВНИК АГЕНЦІЇ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4038600"/>
            <a:ext cx="5334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0E0E3A"/>
                </a:solidFill>
                <a:latin typeface="Ubuntu"/>
              </a:rPr>
              <a:t>Катерина Золотарьова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472440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2966FF"/>
                </a:solidFill>
                <a:latin typeface="Ubuntu"/>
              </a:rPr>
              <a:t>ТЕЛЕФОН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800" y="5003800"/>
            <a:ext cx="5334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0E0E3A"/>
                </a:solidFill>
                <a:latin typeface="Ubuntu"/>
              </a:rPr>
              <a:t>+38 (098) 738 77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0" y="472440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2966FF"/>
                </a:solidFill>
                <a:latin typeface="Ubuntu"/>
              </a:rPr>
              <a:t>САЙТ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0" y="5003800"/>
            <a:ext cx="5334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966FF"/>
                </a:solidFill>
                <a:latin typeface="Ubuntu"/>
              </a:rPr>
              <a:t>site24.com.ua</a:t>
            </a:r>
          </a:p>
        </p:txBody>
      </p:sp>
      <p:sp>
        <p:nvSpPr>
          <p:cNvPr id="11" name="Rounded Rectangle 10">
            <a:hlinkClick r:id="rId3"/>
          </p:cNvPr>
          <p:cNvSpPr/>
          <p:nvPr/>
        </p:nvSpPr>
        <p:spPr>
          <a:xfrm>
            <a:off x="6350000" y="3759200"/>
            <a:ext cx="3810000" cy="660400"/>
          </a:xfrm>
          <a:prstGeom prst="roundRect">
            <a:avLst>
              <a:gd name="adj" fmla="val 23076"/>
            </a:avLst>
          </a:prstGeom>
          <a:solidFill>
            <a:srgbClr val="36E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0000" y="3759200"/>
            <a:ext cx="3403600" cy="660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0E0E3A"/>
                </a:solidFill>
                <a:latin typeface="Ubuntu"/>
                <a:hlinkClick r:id="rId3"/>
              </a:rPr>
              <a:t>Замовити консультацію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5000" y="3962400"/>
            <a:ext cx="3302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0E0E3A"/>
                </a:solidFill>
                <a:latin typeface="Ubuntu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64008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E6E88"/>
                </a:solidFill>
                <a:latin typeface="Ubuntu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