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94960" y="0"/>
            <a:ext cx="548640" cy="68580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nter"/>
              </a:rPr>
              <a:t>site24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54864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1828800" cy="365760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3327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червень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Inter"/>
              </a:rPr>
              <a:t>Стратегія SEO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Inter"/>
              </a:rPr>
              <a:t>просування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22860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FD9FF"/>
                </a:solidFill>
                <a:latin typeface="Inter"/>
              </a:rPr>
              <a:t>для компанії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Inter"/>
              </a:rPr>
              <a:t>Беттертон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371600"/>
            <a:ext cx="5760720" cy="4389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7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691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833"/>
                </a:solidFill>
                <a:latin typeface="Inter"/>
              </a:rPr>
              <a:t>Що отримає Беттертон: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148840"/>
            <a:ext cx="82296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2331720"/>
            <a:ext cx="5212080" cy="530352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532888"/>
            <a:ext cx="128016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423160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A1833"/>
                </a:solidFill>
                <a:latin typeface="Inter"/>
              </a:rPr>
              <a:t>Топ Google по слухових апаратах та ЛОР послугах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990088"/>
            <a:ext cx="5212080" cy="530352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3191256"/>
            <a:ext cx="128016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081528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A1833"/>
                </a:solidFill>
                <a:latin typeface="Inter"/>
              </a:rPr>
              <a:t>5 000+ замовлень з органічного пошуку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648456"/>
            <a:ext cx="5212080" cy="530352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3849624"/>
            <a:ext cx="128016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739896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A1833"/>
                </a:solidFill>
                <a:latin typeface="Inter"/>
              </a:rPr>
              <a:t>Видимість у ChatGPT та AI Overview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306824"/>
            <a:ext cx="5212080" cy="530352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4507992"/>
            <a:ext cx="128016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398264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A1833"/>
                </a:solidFill>
                <a:latin typeface="Inter"/>
              </a:rPr>
              <a:t>Прозора звітність щомісяця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965192"/>
            <a:ext cx="5212080" cy="530352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5166360"/>
            <a:ext cx="128016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5056632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A1833"/>
                </a:solidFill>
                <a:latin typeface="Inter"/>
              </a:rPr>
              <a:t>Перевірена команда — SEO, семантик, лінкбілдер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Inter"/>
              </a:rPr>
              <a:t>site24.com.ua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"/>
            <a:ext cx="1645920" cy="347472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Стратегія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A1833"/>
                </a:solidFill>
                <a:latin typeface="Inter"/>
              </a:rPr>
              <a:t>Задачі SEO просування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6459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E2EDFF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833"/>
                </a:solidFill>
                <a:latin typeface="Inter"/>
              </a:rPr>
              <a:t>Лідерство в Google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46120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Inter"/>
              </a:rPr>
              <a:t>Зробити Беттертон лідером у Google по трьох напрямках:
Слухові апарати
Діагностика слуху
ЛОР послуги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54480"/>
            <a:ext cx="548640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548640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7830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E2EDFF"/>
                </a:solidFill>
                <a:latin typeface="Inter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6517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A1833"/>
                </a:solidFill>
                <a:latin typeface="Inter"/>
              </a:rPr>
              <a:t>5 000 замовлень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3246120"/>
            <a:ext cx="82296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401568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Inter"/>
              </a:rPr>
              <a:t>Забезпечити стабільний потік замовлень з органічного пошуку через SEO-оптимізацію сайту та посилення комерційних сторінок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"/>
            <a:ext cx="1645920" cy="347472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Аналіз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A1833"/>
                </a:solidFill>
                <a:latin typeface="Inter"/>
              </a:rPr>
              <a:t>Ситуація в видачі Google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6459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1274552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109728" cy="2240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37360"/>
            <a:ext cx="10543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A1833"/>
                </a:solidFill>
                <a:latin typeface="Inter"/>
              </a:rPr>
              <a:t>Інтернет-магазини лідирують у комерційних запитах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105430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64748B"/>
                </a:solidFill>
                <a:latin typeface="Inter"/>
              </a:rPr>
              <a:t>Конкуренти sluh.com.ua, vdy.com.ua та evrotonsluh.com.ua обходять усіх завдяки краще оптимізованій комерційній структурі — попри слабші SEO-метрики. Ключова перевага — у побудові сторінок під купівельні запити.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77640"/>
            <a:ext cx="11274552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77640"/>
            <a:ext cx="109728" cy="2240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10543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A1833"/>
                </a:solidFill>
                <a:latin typeface="Inter"/>
              </a:rPr>
              <a:t>ЛОР-ніша має свою специфіку ранжування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105430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64748B"/>
                </a:solidFill>
                <a:latin typeface="Inter"/>
              </a:rPr>
              <a:t>Мережеві гравці (Oxford Medical) з філіями в різних містах займають позиції через локальне SEO. Необхідно окремо дослідити підходи до просування клінік та збудувати стратегію під кожне місто присутності Беттертон.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"/>
            <a:ext cx="1645920" cy="347472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Знайдені проблеми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A1833"/>
                </a:solidFill>
                <a:latin typeface="Inter"/>
              </a:rPr>
              <a:t>Технічний SEO аудит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6459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317236" cy="14447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5317236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09928"/>
            <a:ext cx="49514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833"/>
                </a:solidFill>
                <a:latin typeface="Inter"/>
              </a:rPr>
              <a:t>Переспам анкорів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48840"/>
            <a:ext cx="49514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Inter"/>
              </a:rPr>
              <a:t>Переоптимізація точними входженнями ключових запитів знижує довіру Google до сторінок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57316" y="1508760"/>
            <a:ext cx="5317236" cy="14447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57316" y="1508760"/>
            <a:ext cx="5317236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5916" y="1709928"/>
            <a:ext cx="49514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833"/>
                </a:solidFill>
                <a:latin typeface="Inter"/>
              </a:rPr>
              <a:t>Пагінація закрита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5916" y="2148840"/>
            <a:ext cx="49514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Inter"/>
              </a:rPr>
              <a:t>Сторінки пагінації в robots.txt — послуги з пагінацією повністю випадають з індексу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08960"/>
            <a:ext cx="5317236" cy="14447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5317236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310128"/>
            <a:ext cx="49514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833"/>
                </a:solidFill>
                <a:latin typeface="Inter"/>
              </a:rPr>
              <a:t>Дублі сторінок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49040"/>
            <a:ext cx="49514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Inter"/>
              </a:rPr>
              <a:t>Смислові дублі ЛОР-сторінок + плутанина у мета-тегах між укр/рос версіями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57316" y="3108960"/>
            <a:ext cx="5317236" cy="14447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57316" y="3108960"/>
            <a:ext cx="5317236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3310128"/>
            <a:ext cx="49514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833"/>
                </a:solidFill>
                <a:latin typeface="Inter"/>
              </a:rPr>
              <a:t>Погана швидкодія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5916" y="3749040"/>
            <a:ext cx="49514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Inter"/>
              </a:rPr>
              <a:t>PageSpeed незадовільний, старі URL зі статусом 404 — втрата ваги посилань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709160"/>
            <a:ext cx="5317236" cy="14447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709160"/>
            <a:ext cx="5317236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0328"/>
            <a:ext cx="49514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833"/>
                </a:solidFill>
                <a:latin typeface="Inter"/>
              </a:rPr>
              <a:t>AI-видимість часткова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349240"/>
            <a:ext cx="49514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Inter"/>
              </a:rPr>
              <a:t>AI Overview лише там де вже є топ-10. ChatGPT — тільки через Google Maps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"/>
            <a:ext cx="1645920" cy="347472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Наш план дій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A1833"/>
                </a:solidFill>
                <a:latin typeface="Inter"/>
              </a:rPr>
              <a:t>Стратегія по SEO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6459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3532632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3532632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7335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DFF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3166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833"/>
                </a:solidFill>
                <a:latin typeface="Inter"/>
              </a:rPr>
              <a:t>Комерційна структура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79192"/>
            <a:ext cx="31668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Inter"/>
              </a:rPr>
              <a:t>Перебудова сторінки «Слухові апарати» як повноцінного комерційного лендінгу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99560" y="1508760"/>
            <a:ext cx="3532632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99560" y="1508760"/>
            <a:ext cx="3532632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8160" y="167335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DFF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8160" y="2194560"/>
            <a:ext cx="3166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833"/>
                </a:solidFill>
                <a:latin typeface="Inter"/>
              </a:rPr>
              <a:t>Семантичне ядро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8160" y="2679192"/>
            <a:ext cx="31668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Inter"/>
              </a:rPr>
              <a:t>Повний збір семантики по кожному напрямку — слухові апарати, ЛОР, діагностика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41920" y="1508760"/>
            <a:ext cx="3532632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41920" y="1508760"/>
            <a:ext cx="3532632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0520" y="167335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DFF"/>
                </a:solidFill>
                <a:latin typeface="Inte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0520" y="2194560"/>
            <a:ext cx="3166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833"/>
                </a:solidFill>
                <a:latin typeface="Inter"/>
              </a:rPr>
              <a:t>Технічний аудит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0520" y="2679192"/>
            <a:ext cx="31668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Inter"/>
              </a:rPr>
              <a:t>Усунення дублів, 404, помилок robots.txt, покращення PageSpeed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40480"/>
            <a:ext cx="3532632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840480"/>
            <a:ext cx="3532632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00507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DFF"/>
                </a:solidFill>
                <a:latin typeface="Inter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26280"/>
            <a:ext cx="3166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833"/>
                </a:solidFill>
                <a:latin typeface="Inter"/>
              </a:rPr>
              <a:t>AI-оптимізація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010912"/>
            <a:ext cx="31668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Inter"/>
              </a:rPr>
              <a:t>Оптимізація під ChatGPT та AI Overview — нова точка видимості в пошуку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99560" y="3840480"/>
            <a:ext cx="3532632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99560" y="3840480"/>
            <a:ext cx="3532632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28160" y="400507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DFF"/>
                </a:solidFill>
                <a:latin typeface="Inter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8160" y="4526280"/>
            <a:ext cx="3166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833"/>
                </a:solidFill>
                <a:latin typeface="Inter"/>
              </a:rPr>
              <a:t>Лінкбілдинг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8160" y="5010912"/>
            <a:ext cx="31668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Inter"/>
              </a:rPr>
              <a:t>Аналіз конкурентів, добір донорів, закупівля якісних тематичних посилань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41920" y="3840480"/>
            <a:ext cx="3532632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41920" y="3840480"/>
            <a:ext cx="3532632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0520" y="400507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DFF"/>
                </a:solidFill>
                <a:latin typeface="Inter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70520" y="4526280"/>
            <a:ext cx="3166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833"/>
                </a:solidFill>
                <a:latin typeface="Inter"/>
              </a:rPr>
              <a:t>EEAT-фактори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0520" y="5010912"/>
            <a:ext cx="31668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Inter"/>
              </a:rPr>
              <a:t>Посилення експертності та довіри — автори, відгуки, сертифікати, досвід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"/>
            <a:ext cx="1645920" cy="347472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Дорожня карта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A1833"/>
                </a:solidFill>
                <a:latin typeface="Inter"/>
              </a:rPr>
              <a:t>План робіт — 1-ий місяць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6459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664208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459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645920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Збір семантичного ядра — слухові апарати та пріоритетні послуги (до 40 груп)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31136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2340864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3225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322576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ТЗ на допрацювання структури сайту та меню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07792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3017520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9992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2999232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Написання та оптимізація мета-тегів по зібраній семантиці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84448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694176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6758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675888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ТЗ на оптимізацію текстів для 15 сторінок (семантика + AI-аналіз конкурентів)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61104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4370832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352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352544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ТЗ на допрацювання структури сторінки «Слухові апарати»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937760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5047488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50292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5029200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Технічний SEO аудит — ТЗ програмісту на впровадження правок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614416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6928" y="5724144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70585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5705856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Аналіз EEAT конкурентів — ТЗ на допрацювання факторів довіри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"/>
            <a:ext cx="1645920" cy="347472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Дорожня карта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A1833"/>
                </a:solidFill>
                <a:latin typeface="Inter"/>
              </a:rPr>
              <a:t>План робіт — 2-ий місяць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6459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664208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459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645920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Перевірка впроваджених правок на сайті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31136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2340864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3225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322576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Контроль та прийом написаних SEO-текстів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07792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3017520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9992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2999232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Збір семантики по послугах ЛОРа / отоларінголога / сурдолога (до 40 груп)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84448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694176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6758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675888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ТЗ на зміну, створення та склеювання сторінок сайту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61104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4370832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352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352544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Написання та оптимізація мета-тегів по новій семантиці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937760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5047488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50292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5029200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ТЗ на написання текстів для 15 нових сторінок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614416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6928" y="5724144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70585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5705856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Аналіз посилань конкурентів — формування стратегії лінкбілдингу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291072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6928" y="6400800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63825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" y="6382512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Залучення перших якісних посилань (статейні + підбір донорів)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"/>
            <a:ext cx="1645920" cy="347472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Дорожня карта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A1833"/>
                </a:solidFill>
                <a:latin typeface="Inter"/>
              </a:rPr>
              <a:t>План робіт — 3-ій місяць і далі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6459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664208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459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645920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Збір семантичного ядра — комерційні сторінки або блог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31136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2340864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3225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322576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Формування мета-тегів та ТЗ на тексти щомісяця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07792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3017520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9992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2999232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Контроль технічного стану сайту, нові правки за потреби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84448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694176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6758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675888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Нарощування якісної маси посилань (статейні + крауд посилання)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61104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4370832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352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352544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Оптимізація під AI-системи: ChatGPT, AI Overview, Gemini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937760"/>
            <a:ext cx="11274552" cy="585216"/>
          </a:xfrm>
          <a:prstGeom prst="roundRect">
            <a:avLst>
              <a:gd name="adj" fmla="val 15000"/>
            </a:avLst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5047488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50292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5029200"/>
            <a:ext cx="105430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1833"/>
                </a:solidFill>
                <a:latin typeface="Inter"/>
              </a:rPr>
              <a:t>Індивідуальні задачі за динамікою проекту в поточному місяці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"/>
            <a:ext cx="1645920" cy="347472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Інвестиції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A1833"/>
                </a:solidFill>
                <a:latin typeface="Inter"/>
              </a:rPr>
              <a:t>Вартість послуг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6459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4937760"/>
          </a:xfrm>
          <a:prstGeom prst="roundRect">
            <a:avLst>
              <a:gd name="adj" fmla="val 3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FD9FF"/>
                </a:solidFill>
                <a:latin typeface="Inter"/>
              </a:rPr>
              <a:t>1-й місяць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Inter"/>
              </a:rPr>
              <a:t>650$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83280"/>
            <a:ext cx="164592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BFD9FF"/>
                </a:solidFill>
                <a:latin typeface="Inter"/>
              </a:rPr>
              <a:t>Стартовий місяць — повний аудит,
стратегія, техзавдання та перший крок
у просуванні.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508760"/>
            <a:ext cx="58521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7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833"/>
                </a:solidFill>
                <a:latin typeface="Inter"/>
              </a:rPr>
              <a:t>2-й місяць та далі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240280"/>
            <a:ext cx="1828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4231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64748B"/>
                </a:solidFill>
                <a:latin typeface="Inter"/>
              </a:rPr>
              <a:t>Роботи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423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50" b="1" i="0">
                <a:solidFill>
                  <a:srgbClr val="0A1833"/>
                </a:solidFill>
                <a:latin typeface="Inter"/>
              </a:rPr>
              <a:t>580$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099816"/>
            <a:ext cx="5669280" cy="74980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64748B"/>
                </a:solidFill>
                <a:latin typeface="Inter"/>
              </a:rPr>
              <a:t>Посилання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17296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50" b="1" i="0">
                <a:solidFill>
                  <a:srgbClr val="0A1833"/>
                </a:solidFill>
                <a:latin typeface="Inter"/>
              </a:rPr>
              <a:t>550$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92277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64748B"/>
                </a:solidFill>
                <a:latin typeface="Inter"/>
              </a:rPr>
              <a:t>Копірайтинг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92277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50" b="1" i="0">
                <a:solidFill>
                  <a:srgbClr val="64748B"/>
                </a:solidFill>
                <a:latin typeface="Inter"/>
              </a:rPr>
              <a:t>280 грн / 1000 зн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4599432"/>
            <a:ext cx="5669280" cy="74980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67258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64748B"/>
                </a:solidFill>
                <a:latin typeface="Inter"/>
              </a:rPr>
              <a:t>Впровадження правок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67258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50" b="1" i="0">
                <a:solidFill>
                  <a:srgbClr val="64748B"/>
                </a:solidFill>
                <a:latin typeface="Inter"/>
              </a:rPr>
              <a:t>на боці клієнта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989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Inter"/>
              </a:rPr>
              <a:t>** Оплата — передоплата за 1 місяць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"/>
            <a:ext cx="1645920" cy="347472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Команда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A1833"/>
                </a:solidFill>
                <a:latin typeface="Inter"/>
              </a:rPr>
              <a:t>Хто працює над проєктом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6459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2612898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2612898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2EDFF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233857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1833"/>
                </a:solidFill>
                <a:latin typeface="Inter"/>
              </a:rPr>
              <a:t>Проджект-
менеджер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82112"/>
            <a:ext cx="6400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233857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Inter"/>
              </a:rPr>
              <a:t>Підтримує всі комунікації та контролює виконання задач у строк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98114" y="1508760"/>
            <a:ext cx="2612898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98114" y="1508760"/>
            <a:ext cx="2612898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0994" y="16916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2EDFF"/>
                </a:solidFill>
                <a:latin typeface="Inter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0994" y="2377440"/>
            <a:ext cx="233857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1833"/>
                </a:solidFill>
                <a:latin typeface="Inter"/>
              </a:rPr>
              <a:t>SEO
фахівець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0994" y="3182112"/>
            <a:ext cx="6400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0994" y="3337560"/>
            <a:ext cx="233857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Inter"/>
              </a:rPr>
              <a:t>Аналіз сайту та конкурентів, технічний аудит, стратегія просування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39028" y="1508760"/>
            <a:ext cx="2612898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39028" y="1508760"/>
            <a:ext cx="2612898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1908" y="16916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2EDFF"/>
                </a:solidFill>
                <a:latin typeface="Inter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1908" y="2377440"/>
            <a:ext cx="233857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1833"/>
                </a:solidFill>
                <a:latin typeface="Inter"/>
              </a:rPr>
              <a:t>Семантик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1908" y="3182112"/>
            <a:ext cx="6400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1908" y="3337560"/>
            <a:ext cx="233857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Inter"/>
              </a:rPr>
              <a:t>Розширення семантики в поточних групах та збір ключів для нових категорій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9942" y="1508760"/>
            <a:ext cx="2612898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79942" y="1508760"/>
            <a:ext cx="2612898" cy="109728"/>
          </a:xfrm>
          <a:prstGeom prst="rect">
            <a:avLst/>
          </a:prstGeom>
          <a:solidFill>
            <a:srgbClr val="0A1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2822" y="16916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2EDFF"/>
                </a:solidFill>
                <a:latin typeface="Inter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2822" y="2377440"/>
            <a:ext cx="233857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1833"/>
                </a:solidFill>
                <a:latin typeface="Inter"/>
              </a:rPr>
              <a:t>Лінкбілдер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2822" y="3182112"/>
            <a:ext cx="640080" cy="54864"/>
          </a:xfrm>
          <a:prstGeom prst="rect">
            <a:avLst/>
          </a:prstGeom>
          <a:solidFill>
            <a:srgbClr val="0A1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2822" y="3337560"/>
            <a:ext cx="233857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Inter"/>
              </a:rPr>
              <a:t>Закупівля посилань на категорії, що просуваються; контроль якості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"/>
            <a:ext cx="1645920" cy="347472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Як ми працюємо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A1833"/>
                </a:solidFill>
                <a:latin typeface="Inter"/>
              </a:rPr>
              <a:t>Звітність та прозорість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6459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486400" cy="1920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548640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833"/>
                </a:solidFill>
                <a:latin typeface="Inter"/>
              </a:rPr>
              <a:t>Роботи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58568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4748B"/>
                </a:solidFill>
                <a:latin typeface="Inter"/>
              </a:rPr>
              <a:t>Щомісячний звіт по проведених та запланованих роботах — що зроблено, що далі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08760"/>
            <a:ext cx="5486400" cy="1920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508760"/>
            <a:ext cx="548640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833"/>
                </a:solidFill>
                <a:latin typeface="Inter"/>
              </a:rPr>
              <a:t>Трафік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58568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4748B"/>
                </a:solidFill>
                <a:latin typeface="Inter"/>
              </a:rPr>
              <a:t>Звіт по трафіку та конверсіях — динаміка росту, джерела, поведінка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11880"/>
            <a:ext cx="5486400" cy="1920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11880"/>
            <a:ext cx="548640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833"/>
                </a:solidFill>
                <a:latin typeface="Inter"/>
              </a:rPr>
              <a:t>Посилання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61688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4748B"/>
                </a:solidFill>
                <a:latin typeface="Inter"/>
              </a:rPr>
              <a:t>Звіт по закуплених посиланнях — донори, анкори, показники якості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611880"/>
            <a:ext cx="5486400" cy="1920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611880"/>
            <a:ext cx="548640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840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833"/>
                </a:solidFill>
                <a:latin typeface="Inter"/>
              </a:rPr>
              <a:t>Позиції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361688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4748B"/>
                </a:solidFill>
                <a:latin typeface="Inter"/>
              </a:rPr>
              <a:t>Звіт по позиціях у Google — ключові запити, динаміка, топ-3/10/20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760720"/>
            <a:ext cx="11274552" cy="731520"/>
          </a:xfrm>
          <a:prstGeom prst="roundRect">
            <a:avLst>
              <a:gd name="adj" fmla="val 3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70448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Наш принцип — повна прозорість бюджетів, відповідей та звітів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"/>
            <a:ext cx="1645920" cy="347472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Результат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A1833"/>
                </a:solidFill>
                <a:latin typeface="Inter"/>
              </a:rPr>
              <a:t>Наш кейс — медичне обладнання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6459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4572000" cy="4937760"/>
          </a:xfrm>
          <a:prstGeom prst="roundRect">
            <a:avLst>
              <a:gd name="adj" fmla="val 3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Inter"/>
              </a:rPr>
              <a:t>×11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20440"/>
            <a:ext cx="18288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FD9FF"/>
                </a:solidFill>
                <a:latin typeface="Inter"/>
              </a:rPr>
              <a:t>зростання трафіку
за 15 місяців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508760"/>
            <a:ext cx="6217920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7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17830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A1833"/>
                </a:solidFill>
                <a:latin typeface="Inter"/>
              </a:rPr>
              <a:t>1 650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8346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Inter"/>
              </a:rPr>
              <a:t>користувачів / міс на старті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4069080"/>
            <a:ext cx="6217920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7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43434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563EB"/>
                </a:solidFill>
                <a:latin typeface="Inter"/>
              </a:rPr>
              <a:t>20 000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53949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Inter"/>
              </a:rPr>
              <a:t>користувачів / міс після 15 міс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Inter"/>
              </a:rPr>
              <a:t>site24.com.ua/kejs-seo-prosuvannya-sajtu-medichnogo-obladnannya/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"/>
            <a:ext cx="1645920" cy="347472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Клієнти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A1833"/>
                </a:solidFill>
                <a:latin typeface="Inter"/>
              </a:rPr>
              <a:t>Нам довіряють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6459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11274552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7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0CCDD"/>
                </a:solidFill>
                <a:latin typeface="Inter"/>
              </a:rPr>
              <a:t>[ Логотипи клієнтів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Inter"/>
              </a:rPr>
              <a:t>site24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Inter"/>
              </a:rPr>
              <a:t>Команда Site24
чекає на ваше рішення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97480"/>
            <a:ext cx="22860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9FF"/>
                </a:solidFill>
                <a:latin typeface="Inter"/>
              </a:rPr>
              <a:t>site24.com.ua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256032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7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256032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833"/>
                </a:solidFill>
                <a:latin typeface="Inter"/>
              </a:rPr>
              <a:t>Юлія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128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Inter"/>
              </a:rPr>
              <a:t>Клієнт-менеджер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697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Inter"/>
              </a:rPr>
              <a:t>+38 073 979 93 06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1546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Inter"/>
              </a:rPr>
              <a:t>tg: yuliastua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371600"/>
            <a:ext cx="256032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7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0" y="1371600"/>
            <a:ext cx="25603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6002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833"/>
                </a:solidFill>
                <a:latin typeface="Inter"/>
              </a:rPr>
              <a:t>Катерина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2128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Inter"/>
              </a:rPr>
              <a:t>Керівник студії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6974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Inter"/>
              </a:rPr>
              <a:t>Технічний аналіз проекту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